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Assertiveness (concern for own goals)</c:v>
                </c:pt>
              </c:strCache>
            </c:strRef>
          </c:tx>
          <c:spPr>
            <a:solidFill>
              <a:srgbClr val="1F6FEB"/>
            </a:solidFill>
          </c:spPr>
          <c:cat>
            <c:strRef>
              <c:f>Sheet1!$A$2:$A$6</c:f>
              <c:strCache>
                <c:ptCount val="5"/>
                <c:pt idx="0">
                  <c:v>Competing</c:v>
                </c:pt>
                <c:pt idx="1">
                  <c:v>Collaborating</c:v>
                </c:pt>
                <c:pt idx="2">
                  <c:v>Compromising</c:v>
                </c:pt>
                <c:pt idx="3">
                  <c:v>Avoiding</c:v>
                </c:pt>
                <c:pt idx="4">
                  <c:v>Accommodating</c:v>
                </c:pt>
              </c:strCache>
            </c:strRef>
          </c:cat>
          <c:val>
            <c:numRef>
              <c:f>Sheet1!$B$2:$B$6</c:f>
              <c:numCache>
                <c:formatCode>0</c:formatCode>
                <c:ptCount val="5"/>
                <c:pt idx="0">
                  <c:v>5</c:v>
                </c:pt>
                <c:pt idx="1">
                  <c:v>5</c:v>
                </c:pt>
                <c:pt idx="2">
                  <c:v>3</c:v>
                </c:pt>
                <c:pt idx="3">
                  <c:v>1</c:v>
                </c:pt>
                <c:pt idx="4">
                  <c:v>1</c:v>
                </c:pt>
              </c:numCache>
            </c:numRef>
          </c:val>
        </c:ser>
        <c:ser>
          <c:idx val="1"/>
          <c:order val="1"/>
          <c:tx>
            <c:strRef>
              <c:f>Sheet1!$C$1</c:f>
              <c:strCache>
                <c:ptCount val="1"/>
                <c:pt idx="0">
                  <c:v>Cooperativeness (concern for others)</c:v>
                </c:pt>
              </c:strCache>
            </c:strRef>
          </c:tx>
          <c:spPr>
            <a:solidFill>
              <a:srgbClr val="10B981"/>
            </a:solidFill>
          </c:spPr>
          <c:cat>
            <c:strRef>
              <c:f>Sheet1!$A$2:$A$6</c:f>
              <c:strCache>
                <c:ptCount val="5"/>
                <c:pt idx="0">
                  <c:v>Competing</c:v>
                </c:pt>
                <c:pt idx="1">
                  <c:v>Collaborating</c:v>
                </c:pt>
                <c:pt idx="2">
                  <c:v>Compromising</c:v>
                </c:pt>
                <c:pt idx="3">
                  <c:v>Avoiding</c:v>
                </c:pt>
                <c:pt idx="4">
                  <c:v>Accommodating</c:v>
                </c:pt>
              </c:strCache>
            </c:strRef>
          </c:cat>
          <c:val>
            <c:numRef>
              <c:f>Sheet1!$C$2:$C$6</c:f>
              <c:numCache>
                <c:formatCode>0</c:formatCode>
                <c:ptCount val="5"/>
                <c:pt idx="0">
                  <c:v>1</c:v>
                </c:pt>
                <c:pt idx="1">
                  <c:v>5</c:v>
                </c:pt>
                <c:pt idx="2">
                  <c:v>3</c:v>
                </c:pt>
                <c:pt idx="3">
                  <c:v>1</c:v>
                </c:pt>
                <c:pt idx="4">
                  <c:v>5</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Extra nurse-hours (3 Saturday sessions)</c:v>
                </c:pt>
              </c:strCache>
            </c:strRef>
          </c:tx>
          <c:spPr>
            <a:solidFill>
              <a:srgbClr val="1F6FEB"/>
            </a:solidFill>
          </c:spPr>
          <c:cat>
            <c:strRef>
              <c:f>Sheet1!$A$2:$A$5</c:f>
              <c:strCache>
                <c:ptCount val="4"/>
                <c:pt idx="0">
                  <c:v>Mei's opening position</c:v>
                </c:pt>
                <c:pt idx="1">
                  <c:v>Arjun's reservation point</c:v>
                </c:pt>
                <c:pt idx="2">
                  <c:v>Mei's reservation point</c:v>
                </c:pt>
                <c:pt idx="3">
                  <c:v>Arjun's opening position</c:v>
                </c:pt>
              </c:strCache>
            </c:strRef>
          </c:cat>
          <c:val>
            <c:numRef>
              <c:f>Sheet1!$B$2:$B$5</c:f>
              <c:numCache>
                <c:formatCode>0</c:formatCode>
                <c:ptCount val="4"/>
                <c:pt idx="0">
                  <c:v>36</c:v>
                </c:pt>
                <c:pt idx="1">
                  <c:v>30</c:v>
                </c:pt>
                <c:pt idx="2">
                  <c:v>27</c:v>
                </c:pt>
                <c:pt idx="3">
                  <c:v>18</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Late drawing changes per week</c:v>
                </c:pt>
              </c:strCache>
            </c:strRef>
          </c:tx>
          <c:spPr>
            <a:solidFill>
              <a:srgbClr val="1F6FEB"/>
            </a:solidFill>
          </c:spPr>
          <c:cat>
            <c:strRef>
              <c:f>Sheet1!$A$2:$A$4</c:f>
              <c:strCache>
                <c:ptCount val="3"/>
                <c:pt idx="0">
                  <c:v>Baseline</c:v>
                </c:pt>
                <c:pt idx="1">
                  <c:v>Week 2</c:v>
                </c:pt>
                <c:pt idx="2">
                  <c:v>Day 30</c:v>
                </c:pt>
              </c:strCache>
            </c:strRef>
          </c:cat>
          <c:val>
            <c:numRef>
              <c:f>Sheet1!$B$2:$B$4</c:f>
              <c:numCache>
                <c:formatCode>0</c:formatCode>
                <c:ptCount val="3"/>
                <c:pt idx="0">
                  <c:v>9</c:v>
                </c:pt>
                <c:pt idx="1">
                  <c:v>5</c:v>
                </c:pt>
                <c:pt idx="2">
                  <c:v>3</c:v>
                </c:pt>
              </c:numCache>
            </c:numRef>
          </c:val>
        </c:ser>
        <c:ser>
          <c:idx val="1"/>
          <c:order val="1"/>
          <c:tx>
            <c:strRef>
              <c:f>Sheet1!$C$1</c:f>
              <c:strCache>
                <c:ptCount val="1"/>
                <c:pt idx="0">
                  <c:v>Site rework hours per week</c:v>
                </c:pt>
              </c:strCache>
            </c:strRef>
          </c:tx>
          <c:spPr>
            <a:solidFill>
              <a:srgbClr val="10B981"/>
            </a:solidFill>
          </c:spPr>
          <c:cat>
            <c:strRef>
              <c:f>Sheet1!$A$2:$A$4</c:f>
              <c:strCache>
                <c:ptCount val="3"/>
                <c:pt idx="0">
                  <c:v>Baseline</c:v>
                </c:pt>
                <c:pt idx="1">
                  <c:v>Week 2</c:v>
                </c:pt>
                <c:pt idx="2">
                  <c:v>Day 30</c:v>
                </c:pt>
              </c:strCache>
            </c:strRef>
          </c:cat>
          <c:val>
            <c:numRef>
              <c:f>Sheet1!$C$2:$C$4</c:f>
              <c:numCache>
                <c:formatCode>0</c:formatCode>
                <c:ptCount val="3"/>
                <c:pt idx="0">
                  <c:v>22</c:v>
                </c:pt>
                <c:pt idx="1">
                  <c:v>14</c:v>
                </c:pt>
                <c:pt idx="2">
                  <c:v>10</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lms-tms.tertiaryinfotech.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6066849-Conflict-Managemen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on.harvard.edu/daily/conflict-resolution/conflict-resolution-strategies/" TargetMode="External"/><Relationship Id="rId3" Type="http://schemas.openxmlformats.org/officeDocument/2006/relationships/hyperlink" Target="https://online.hbs.edu/blog/post/strategies-for-conflict-resolution-in-the-workplace" TargetMode="External"/><Relationship Id="rId4" Type="http://schemas.openxmlformats.org/officeDocument/2006/relationships/hyperlink" Target="https://www.helpguide.org/relationships/communication/conflict-resolution-skills" TargetMode="External"/><Relationship Id="rId5" Type="http://schemas.openxmlformats.org/officeDocument/2006/relationships/hyperlink" Target="https://www.coursera.org/articles/conflict-management" TargetMode="External"/><Relationship Id="rId6" Type="http://schemas.openxmlformats.org/officeDocument/2006/relationships/hyperlink" Target="https://studentaffairs.berkeley.edu/ombuds-office-for-students-postdoctoral-appointees/tips-tools-techniques/" TargetMode="External"/><Relationship Id="rId7" Type="http://schemas.openxmlformats.org/officeDocument/2006/relationships/hyperlink" Target="https://www.mom.gov.sg/employment-practices/workplace-grievances" TargetMode="External"/><Relationship Id="rId8" Type="http://schemas.openxmlformats.org/officeDocument/2006/relationships/hyperlink" Target="https://www.mom.gov.sg/-/media/mom/documents/employment-practices/guidelines/tripartite-advisory-on-managing-workplace-harassment.pdf" TargetMode="External"/><Relationship Id="rId9" Type="http://schemas.openxmlformats.org/officeDocument/2006/relationships/hyperlink" Target="https://www.pdpc.gov.sg/overview-of-pdpa/the-legislation/personal-data-protection-act/data-protection-obligations"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ver-workplace-dialogue.png"/>
          <p:cNvPicPr>
            <a:picLocks noChangeAspect="1"/>
          </p:cNvPicPr>
          <p:nvPr/>
        </p:nvPicPr>
        <p:blipFill>
          <a:blip r:embed="rId2"/>
          <a:srcRect l="47000"/>
          <a:stretch>
            <a:fillRect/>
          </a:stretch>
        </p:blipFill>
        <p:spPr>
          <a:xfrm>
            <a:off x="6309360" y="201168"/>
            <a:ext cx="5882335" cy="6455664"/>
          </a:xfrm>
          <a:prstGeom prst="rect">
            <a:avLst/>
          </a:prstGeom>
        </p:spPr>
      </p:pic>
      <p:pic>
        <p:nvPicPr>
          <p:cNvPr id="6" name="Picture 5" descr="tertiary-infotech-logo.png"/>
          <p:cNvPicPr>
            <a:picLocks noChangeAspect="1"/>
          </p:cNvPicPr>
          <p:nvPr/>
        </p:nvPicPr>
        <p:blipFill>
          <a:blip r:embed="rId3"/>
          <a:stretch>
            <a:fillRect/>
          </a:stretch>
        </p:blipFill>
        <p:spPr>
          <a:xfrm>
            <a:off x="777240" y="640080"/>
            <a:ext cx="960120" cy="960120"/>
          </a:xfrm>
          <a:prstGeom prst="rect">
            <a:avLst/>
          </a:prstGeom>
        </p:spPr>
      </p:pic>
      <p:pic>
        <p:nvPicPr>
          <p:cNvPr id="7" name="Picture 6" descr="conflict-management-badge.png"/>
          <p:cNvPicPr>
            <a:picLocks noChangeAspect="1"/>
          </p:cNvPicPr>
          <p:nvPr/>
        </p:nvPicPr>
        <p:blipFill>
          <a:blip r:embed="rId4"/>
          <a:stretch>
            <a:fillRect/>
          </a:stretch>
        </p:blipFill>
        <p:spPr>
          <a:xfrm>
            <a:off x="1920240" y="640080"/>
            <a:ext cx="960120" cy="960120"/>
          </a:xfrm>
          <a:prstGeom prst="rect">
            <a:avLst/>
          </a:prstGeom>
        </p:spPr>
      </p:pic>
      <p:sp>
        <p:nvSpPr>
          <p:cNvPr id="8" name="TextBox 7"/>
          <p:cNvSpPr txBox="1"/>
          <p:nvPr/>
        </p:nvSpPr>
        <p:spPr>
          <a:xfrm>
            <a:off x="822960" y="2057400"/>
            <a:ext cx="5303520" cy="45720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9" name="TextBox 8"/>
          <p:cNvSpPr txBox="1"/>
          <p:nvPr/>
        </p:nvSpPr>
        <p:spPr>
          <a:xfrm>
            <a:off x="822960" y="2560320"/>
            <a:ext cx="5303520" cy="1463040"/>
          </a:xfrm>
          <a:prstGeom prst="rect">
            <a:avLst/>
          </a:prstGeom>
          <a:noFill/>
        </p:spPr>
        <p:txBody>
          <a:bodyPr wrap="square" anchor="t">
            <a:spAutoFit/>
          </a:bodyPr>
          <a:lstStyle/>
          <a:p>
            <a:pPr algn="l">
              <a:spcAft>
                <a:spcPts val="400"/>
              </a:spcAft>
            </a:pPr>
            <a:r>
              <a:rPr sz="4400" b="1">
                <a:solidFill>
                  <a:srgbClr val="161B26"/>
                </a:solidFill>
                <a:latin typeface="Arial"/>
              </a:rPr>
              <a:t>Conflict Management</a:t>
            </a:r>
          </a:p>
        </p:txBody>
      </p:sp>
      <p:sp>
        <p:nvSpPr>
          <p:cNvPr id="10" name="Rectangle 9"/>
          <p:cNvSpPr/>
          <p:nvPr/>
        </p:nvSpPr>
        <p:spPr>
          <a:xfrm>
            <a:off x="841248" y="4224528"/>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407408"/>
            <a:ext cx="5303520" cy="1463040"/>
          </a:xfrm>
          <a:prstGeom prst="rect">
            <a:avLst/>
          </a:prstGeom>
          <a:noFill/>
        </p:spPr>
        <p:txBody>
          <a:bodyPr wrap="square" anchor="t">
            <a:spAutoFit/>
          </a:bodyPr>
          <a:lstStyle/>
          <a:p>
            <a:pPr algn="l">
              <a:spcAft>
                <a:spcPts val="500"/>
              </a:spcAft>
            </a:pPr>
            <a:r>
              <a:rPr sz="1600" b="0">
                <a:solidFill>
                  <a:srgbClr val="5B6372"/>
                </a:solidFill>
                <a:latin typeface="Arial"/>
              </a:rPr>
              <a:t>WSQ Course Code: TGS-2026066849</a:t>
            </a:r>
          </a:p>
          <a:p>
            <a:pPr algn="l">
              <a:spcAft>
                <a:spcPts val="500"/>
              </a:spcAft>
            </a:pPr>
            <a:r>
              <a:rPr sz="1400" b="0">
                <a:solidFill>
                  <a:srgbClr val="5B6372"/>
                </a:solidFill>
                <a:latin typeface="Arial"/>
              </a:rPr>
              <a:t>Conducted by Tertiary Infotech Academy Pte Ltd</a:t>
            </a:r>
          </a:p>
          <a:p>
            <a:pPr algn="l">
              <a:spcAft>
                <a:spcPts val="500"/>
              </a:spcAft>
            </a:pPr>
            <a:r>
              <a:rPr sz="1400" b="0">
                <a:solidFill>
                  <a:srgbClr val="5B6372"/>
                </a:solidFill>
                <a:latin typeface="Arial"/>
              </a:rPr>
              <a:t>UEN 201200696W</a:t>
            </a:r>
          </a:p>
        </p:txBody>
      </p:sp>
      <p:sp>
        <p:nvSpPr>
          <p:cNvPr id="12" name="TextBox 11"/>
          <p:cNvSpPr txBox="1"/>
          <p:nvPr/>
        </p:nvSpPr>
        <p:spPr>
          <a:xfrm>
            <a:off x="822960" y="5760720"/>
            <a:ext cx="5303520" cy="365760"/>
          </a:xfrm>
          <a:prstGeom prst="rect">
            <a:avLst/>
          </a:prstGeom>
          <a:noFill/>
        </p:spPr>
        <p:txBody>
          <a:bodyPr wrap="square" anchor="t">
            <a:spAutoFit/>
          </a:bodyPr>
          <a:lstStyle/>
          <a:p>
            <a:pPr algn="l">
              <a:spcAft>
                <a:spcPts val="400"/>
              </a:spcAft>
            </a:pPr>
            <a:r>
              <a:rPr sz="1200" b="0">
                <a:solidFill>
                  <a:srgbClr val="5B6372"/>
                </a:solidFill>
                <a:latin typeface="Arial"/>
              </a:rPr>
              <a:t>Version v1.0  ·  19 October 2026</a:t>
            </a:r>
          </a:p>
        </p:txBody>
      </p:sp>
      <p:sp>
        <p:nvSpPr>
          <p:cNvPr id="13" name="TextBox 12"/>
          <p:cNvSpPr txBox="1"/>
          <p:nvPr/>
        </p:nvSpPr>
        <p:spPr>
          <a:xfrm>
            <a:off x="822960" y="6144768"/>
            <a:ext cx="5394960" cy="457200"/>
          </a:xfrm>
          <a:prstGeom prst="rect">
            <a:avLst/>
          </a:prstGeom>
          <a:noFill/>
        </p:spPr>
        <p:txBody>
          <a:bodyPr wrap="square" anchor="t">
            <a:spAutoFit/>
          </a:bodyPr>
          <a:lstStyle/>
          <a:p>
            <a:pPr algn="l">
              <a:spcAft>
                <a:spcPts val="400"/>
              </a:spcAft>
            </a:pPr>
            <a:r>
              <a:rPr sz="950" b="0">
                <a:solidFill>
                  <a:srgbClr val="5B6372"/>
                </a:solidFill>
                <a:latin typeface="Arial"/>
              </a:rPr>
              <a:t>© 2026 Tertiary Infotech Academy Pte Ltd. All rights reserved.</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SkillsFuture-funded courses.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CREDENTIALS</a:t>
            </a:r>
          </a:p>
          <a:p>
            <a:pPr algn="l">
              <a:spcAft>
                <a:spcPts val="300"/>
              </a:spcAft>
            </a:pPr>
            <a:r>
              <a:rPr sz="1400" b="0">
                <a:solidFill>
                  <a:srgbClr val="161B26"/>
                </a:solidFill>
                <a:latin typeface="Arial"/>
              </a:rPr>
              <a:t>20+ years of training and industry experience; adult educator for WSQ programmes.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programmes in leadership, workplace communication, digital transformation and professional capability.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Who you are</a:t>
            </a:r>
          </a:p>
          <a:p>
            <a:pPr algn="l">
              <a:spcAft>
                <a:spcPts val="300"/>
              </a:spcAft>
            </a:pPr>
            <a:r>
              <a:rPr sz="1300" b="0">
                <a:solidFill>
                  <a:srgbClr val="5B6372"/>
                </a:solidFill>
                <a:latin typeface="Arial"/>
              </a:rPr>
              <a:t>Your name, organisation and role.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Your context</a:t>
            </a:r>
          </a:p>
          <a:p>
            <a:pPr algn="l">
              <a:spcAft>
                <a:spcPts val="300"/>
              </a:spcAft>
            </a:pPr>
            <a:r>
              <a:rPr sz="1300" b="0">
                <a:solidFill>
                  <a:srgbClr val="5B6372"/>
                </a:solidFill>
                <a:latin typeface="Arial"/>
              </a:rPr>
              <a:t>One kind of workplace disagreement you see — in general terms, without naming real people.</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Your goal</a:t>
            </a:r>
          </a:p>
          <a:p>
            <a:pPr algn="l">
              <a:spcAft>
                <a:spcPts val="300"/>
              </a:spcAft>
            </a:pPr>
            <a:r>
              <a:rPr sz="1300" b="0">
                <a:solidFill>
                  <a:srgbClr val="5B6372"/>
                </a:solidFill>
                <a:latin typeface="Arial"/>
              </a:rPr>
              <a:t>One conflict-handling skill you want to strengthen today.</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Phones on silent</a:t>
            </a:r>
          </a:p>
          <a:p>
            <a:pPr algn="l">
              <a:spcAft>
                <a:spcPts val="300"/>
              </a:spcAft>
            </a:pPr>
            <a:r>
              <a:rPr sz="1200" b="0">
                <a:solidFill>
                  <a:srgbClr val="5B6372"/>
                </a:solidFill>
                <a:latin typeface="Arial"/>
              </a:rPr>
              <a:t>Step out for urgent calls.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Participate actively</a:t>
            </a:r>
          </a:p>
          <a:p>
            <a:pPr algn="l">
              <a:spcAft>
                <a:spcPts val="300"/>
              </a:spcAft>
            </a:pPr>
            <a:r>
              <a:rPr sz="1200" b="0">
                <a:solidFill>
                  <a:srgbClr val="5B6372"/>
                </a:solidFill>
                <a:latin typeface="Arial"/>
              </a:rPr>
              <a:t>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Respect confidentiality</a:t>
            </a:r>
          </a:p>
          <a:p>
            <a:pPr algn="l">
              <a:spcAft>
                <a:spcPts val="300"/>
              </a:spcAft>
            </a:pPr>
            <a:r>
              <a:rPr sz="1200" b="0">
                <a:solidFill>
                  <a:srgbClr val="5B6372"/>
                </a:solidFill>
                <a:latin typeface="Arial"/>
              </a:rPr>
              <a:t>What is shared in role plays stays in the room.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 conversation at a time</a:t>
            </a:r>
          </a:p>
          <a:p>
            <a:pPr algn="l">
              <a:spcAft>
                <a:spcPts val="300"/>
              </a:spcAft>
            </a:pPr>
            <a:r>
              <a:rPr sz="1200" b="0">
                <a:solidFill>
                  <a:srgbClr val="5B6372"/>
                </a:solidFill>
                <a:latin typeface="Arial"/>
              </a:rPr>
              <a:t>Listen to understand.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Psychological safety</a:t>
            </a:r>
          </a:p>
          <a:p>
            <a:pPr algn="l">
              <a:spcAft>
                <a:spcPts val="300"/>
              </a:spcAft>
            </a:pPr>
            <a:r>
              <a:rPr sz="1200" b="0">
                <a:solidFill>
                  <a:srgbClr val="5B6372"/>
                </a:solidFill>
                <a:latin typeface="Arial"/>
              </a:rPr>
              <a:t>Anyone may pause or switch a role at any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Be punctual</a:t>
            </a:r>
          </a:p>
          <a:p>
            <a:pPr algn="l">
              <a:spcAft>
                <a:spcPts val="300"/>
              </a:spcAft>
            </a:pPr>
            <a:r>
              <a:rPr sz="1200" b="0">
                <a:solidFill>
                  <a:srgbClr val="5B6372"/>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ACCREDITATION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 &amp; Course Structure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Skill</a:t>
            </a:r>
          </a:p>
          <a:p>
            <a:pPr algn="l">
              <a:spcAft>
                <a:spcPts val="300"/>
              </a:spcAft>
            </a:pPr>
            <a:r>
              <a:rPr sz="1200" b="0">
                <a:solidFill>
                  <a:srgbClr val="5B6372"/>
                </a:solidFill>
                <a:latin typeface="Arial"/>
              </a:rPr>
              <a:t>Conflict Management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Course reference</a:t>
            </a:r>
          </a:p>
          <a:p>
            <a:pPr algn="l">
              <a:spcAft>
                <a:spcPts val="300"/>
              </a:spcAft>
            </a:pPr>
            <a:r>
              <a:rPr sz="1200" b="0">
                <a:solidFill>
                  <a:srgbClr val="5B6372"/>
                </a:solidFill>
                <a:latin typeface="Arial"/>
              </a:rPr>
              <a:t>TGS-2026066849 · 1 day · 8 hours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Structure</a:t>
            </a:r>
          </a:p>
          <a:p>
            <a:pPr algn="l">
              <a:spcAft>
                <a:spcPts val="300"/>
              </a:spcAft>
            </a:pPr>
            <a:r>
              <a:rPr sz="1200" b="0">
                <a:solidFill>
                  <a:srgbClr val="5B6372"/>
                </a:solidFill>
                <a:latin typeface="Arial"/>
              </a:rPr>
              <a:t>Five topics, five learning outcomes, eight workplace activities.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Assessment</a:t>
            </a:r>
          </a:p>
          <a:p>
            <a:pPr algn="l">
              <a:spcAft>
                <a:spcPts val="300"/>
              </a:spcAft>
            </a:pPr>
            <a:r>
              <a:rPr sz="1200" b="0">
                <a:solidFill>
                  <a:srgbClr val="5B6372"/>
                </a:solidFill>
                <a:latin typeface="Arial"/>
              </a:rPr>
              <a:t>Written Assessment (30 min) and Live Role Play (30 min).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Methods</a:t>
            </a:r>
          </a:p>
          <a:p>
            <a:pPr algn="l">
              <a:spcAft>
                <a:spcPts val="300"/>
              </a:spcAft>
            </a:pPr>
            <a:r>
              <a:rPr sz="1200" b="0">
                <a:solidFill>
                  <a:srgbClr val="5B6372"/>
                </a:solidFill>
                <a:latin typeface="Arial"/>
              </a:rPr>
              <a:t>Interactive presentation, role-play and facilitated discussion.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Ratio of practice</a:t>
            </a:r>
          </a:p>
          <a:p>
            <a:pPr algn="l">
              <a:spcAft>
                <a:spcPts val="300"/>
              </a:spcAft>
            </a:pPr>
            <a:r>
              <a:rPr sz="1200" b="0">
                <a:solidFill>
                  <a:srgbClr val="5B6372"/>
                </a:solidFill>
                <a:latin typeface="Arial"/>
              </a:rPr>
              <a:t>Over half of the training time is role play and case work.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TOPICS  ·  EIGHT ACTIVITIES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1 — Understanding Workplace Conflict and Management Styles</a:t>
            </a:r>
          </a:p>
          <a:p>
            <a:pPr algn="l">
              <a:spcAft>
                <a:spcPts val="300"/>
              </a:spcAft>
            </a:pPr>
            <a:r>
              <a:rPr sz="1200" b="0">
                <a:solidFill>
                  <a:srgbClr val="5B6372"/>
                </a:solidFill>
                <a:latin typeface="Arial"/>
              </a:rPr>
              <a:t>Conflict types · Escalation cycle · Warning signs · Thomas-Kilmann modes · Situational selection</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2 — Communication Techniques for Diffusing Tensions</a:t>
            </a:r>
          </a:p>
          <a:p>
            <a:pPr algn="l">
              <a:spcAft>
                <a:spcPts val="300"/>
              </a:spcAft>
            </a:pPr>
            <a:r>
              <a:rPr sz="1200" b="0">
                <a:solidFill>
                  <a:srgbClr val="5B6372"/>
                </a:solidFill>
                <a:latin typeface="Arial"/>
              </a:rPr>
              <a:t>Active listening · Empathy · Reframing · Neutral language · Non-verbal cues · Self-regulation</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3 — Negotiation and Consensus-Building Strategies</a:t>
            </a:r>
          </a:p>
          <a:p>
            <a:pPr algn="l">
              <a:spcAft>
                <a:spcPts val="300"/>
              </a:spcAft>
            </a:pPr>
            <a:r>
              <a:rPr sz="1200" b="0">
                <a:solidFill>
                  <a:srgbClr val="5B6372"/>
                </a:solidFill>
                <a:latin typeface="Arial"/>
              </a:rPr>
              <a:t>Positions · Interests · BATNA · Reservation points · ZOPA · Option generation · Resistance · Consensus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4 — Achieving Resolution and Protecting Organisational Interests</a:t>
            </a:r>
          </a:p>
          <a:p>
            <a:pPr algn="l">
              <a:spcAft>
                <a:spcPts val="300"/>
              </a:spcAft>
            </a:pPr>
            <a:r>
              <a:rPr sz="1200" b="0">
                <a:solidFill>
                  <a:srgbClr val="5B6372"/>
                </a:solidFill>
                <a:latin typeface="Arial"/>
              </a:rPr>
              <a:t>Structured resolution process · Mediation stages · Impartiality · Option evaluation · Action planning</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Topic 5 — Sustaining a Conflict-Resilient Organisation</a:t>
            </a:r>
          </a:p>
          <a:p>
            <a:pPr algn="l">
              <a:spcAft>
                <a:spcPts val="300"/>
              </a:spcAft>
            </a:pPr>
            <a:r>
              <a:rPr sz="1200" b="0">
                <a:solidFill>
                  <a:srgbClr val="5B6372"/>
                </a:solidFill>
                <a:latin typeface="Arial"/>
              </a:rPr>
              <a:t>Guidelines · Escalation protocols · Psychological safety · Root-cause review · Monitoring and review</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420 MIN TRAINING + 60 MIN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1 Day, 9:00am to 6:00pm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874519" cy="316523"/>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9:00am – 9:15am</a:t>
            </a:r>
          </a:p>
        </p:txBody>
      </p:sp>
      <p:sp>
        <p:nvSpPr>
          <p:cNvPr id="9" name="Rectangle 8"/>
          <p:cNvSpPr/>
          <p:nvPr/>
        </p:nvSpPr>
        <p:spPr>
          <a:xfrm>
            <a:off x="2697480" y="1737360"/>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34640" y="1737360"/>
            <a:ext cx="7589520" cy="316523"/>
          </a:xfrm>
          <a:prstGeom prst="rect">
            <a:avLst/>
          </a:prstGeom>
          <a:noFill/>
        </p:spPr>
        <p:txBody>
          <a:bodyPr wrap="square" anchor="ctr">
            <a:spAutoFit/>
          </a:bodyPr>
          <a:lstStyle/>
          <a:p>
            <a:pPr algn="l">
              <a:spcAft>
                <a:spcPts val="400"/>
              </a:spcAft>
            </a:pPr>
            <a:r>
              <a:rPr sz="1050" b="0">
                <a:solidFill>
                  <a:srgbClr val="161B26"/>
                </a:solidFill>
                <a:latin typeface="Arial"/>
              </a:rPr>
              <a:t>Welcome, introductions, ground rules, learning outcomes and mandatory AM digital attendance</a:t>
            </a:r>
          </a:p>
        </p:txBody>
      </p:sp>
      <p:sp>
        <p:nvSpPr>
          <p:cNvPr id="11" name="TextBox 10"/>
          <p:cNvSpPr txBox="1"/>
          <p:nvPr/>
        </p:nvSpPr>
        <p:spPr>
          <a:xfrm>
            <a:off x="10424160" y="1737360"/>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15 min</a:t>
            </a:r>
          </a:p>
        </p:txBody>
      </p:sp>
      <p:sp>
        <p:nvSpPr>
          <p:cNvPr id="12" name="Rectangle 11"/>
          <p:cNvSpPr/>
          <p:nvPr/>
        </p:nvSpPr>
        <p:spPr>
          <a:xfrm>
            <a:off x="777240" y="2090459"/>
            <a:ext cx="1874519" cy="31652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090459"/>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9:15am – 10:30am</a:t>
            </a:r>
          </a:p>
        </p:txBody>
      </p:sp>
      <p:sp>
        <p:nvSpPr>
          <p:cNvPr id="14" name="Rectangle 13"/>
          <p:cNvSpPr/>
          <p:nvPr/>
        </p:nvSpPr>
        <p:spPr>
          <a:xfrm>
            <a:off x="2697480" y="2090459"/>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34640" y="2090459"/>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Topic 1 — Understanding Workplace Conflict and Management Styles</a:t>
            </a:r>
          </a:p>
        </p:txBody>
      </p:sp>
      <p:sp>
        <p:nvSpPr>
          <p:cNvPr id="16" name="TextBox 15"/>
          <p:cNvSpPr txBox="1"/>
          <p:nvPr/>
        </p:nvSpPr>
        <p:spPr>
          <a:xfrm>
            <a:off x="10424160" y="2090459"/>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75 min</a:t>
            </a:r>
          </a:p>
        </p:txBody>
      </p:sp>
      <p:sp>
        <p:nvSpPr>
          <p:cNvPr id="17" name="Rectangle 16"/>
          <p:cNvSpPr/>
          <p:nvPr/>
        </p:nvSpPr>
        <p:spPr>
          <a:xfrm>
            <a:off x="777240" y="2443558"/>
            <a:ext cx="1874519" cy="31652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2443558"/>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10:30am – 10:40am</a:t>
            </a:r>
          </a:p>
        </p:txBody>
      </p:sp>
      <p:sp>
        <p:nvSpPr>
          <p:cNvPr id="19" name="Rectangle 18"/>
          <p:cNvSpPr/>
          <p:nvPr/>
        </p:nvSpPr>
        <p:spPr>
          <a:xfrm>
            <a:off x="2697480" y="2443558"/>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34640" y="2443558"/>
            <a:ext cx="7589520" cy="316523"/>
          </a:xfrm>
          <a:prstGeom prst="rect">
            <a:avLst/>
          </a:prstGeom>
          <a:noFill/>
        </p:spPr>
        <p:txBody>
          <a:bodyPr wrap="square" anchor="ctr">
            <a:spAutoFit/>
          </a:bodyPr>
          <a:lstStyle/>
          <a:p>
            <a:pPr algn="l">
              <a:spcAft>
                <a:spcPts val="400"/>
              </a:spcAft>
            </a:pPr>
            <a:r>
              <a:rPr sz="1050" b="0">
                <a:solidFill>
                  <a:srgbClr val="161B26"/>
                </a:solidFill>
                <a:latin typeface="Arial"/>
              </a:rPr>
              <a:t>Tea break</a:t>
            </a:r>
          </a:p>
        </p:txBody>
      </p:sp>
      <p:sp>
        <p:nvSpPr>
          <p:cNvPr id="21" name="TextBox 20"/>
          <p:cNvSpPr txBox="1"/>
          <p:nvPr/>
        </p:nvSpPr>
        <p:spPr>
          <a:xfrm>
            <a:off x="10424160" y="2443558"/>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10 min</a:t>
            </a:r>
          </a:p>
        </p:txBody>
      </p:sp>
      <p:sp>
        <p:nvSpPr>
          <p:cNvPr id="22" name="Rectangle 21"/>
          <p:cNvSpPr/>
          <p:nvPr/>
        </p:nvSpPr>
        <p:spPr>
          <a:xfrm>
            <a:off x="777240" y="2796657"/>
            <a:ext cx="1874519" cy="31652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2796657"/>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10:40am – 11:55am</a:t>
            </a:r>
          </a:p>
        </p:txBody>
      </p:sp>
      <p:sp>
        <p:nvSpPr>
          <p:cNvPr id="24" name="Rectangle 23"/>
          <p:cNvSpPr/>
          <p:nvPr/>
        </p:nvSpPr>
        <p:spPr>
          <a:xfrm>
            <a:off x="2697480" y="2796657"/>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34640" y="2796657"/>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Topic 2 — Communication Techniques for Diffusing Tensions</a:t>
            </a:r>
          </a:p>
        </p:txBody>
      </p:sp>
      <p:sp>
        <p:nvSpPr>
          <p:cNvPr id="26" name="TextBox 25"/>
          <p:cNvSpPr txBox="1"/>
          <p:nvPr/>
        </p:nvSpPr>
        <p:spPr>
          <a:xfrm>
            <a:off x="10424160" y="2796657"/>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75 min</a:t>
            </a:r>
          </a:p>
        </p:txBody>
      </p:sp>
      <p:sp>
        <p:nvSpPr>
          <p:cNvPr id="27" name="Rectangle 26"/>
          <p:cNvSpPr/>
          <p:nvPr/>
        </p:nvSpPr>
        <p:spPr>
          <a:xfrm>
            <a:off x="777240" y="3149756"/>
            <a:ext cx="1874519" cy="31652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3149756"/>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11:55am – 12:30pm</a:t>
            </a:r>
          </a:p>
        </p:txBody>
      </p:sp>
      <p:sp>
        <p:nvSpPr>
          <p:cNvPr id="29" name="Rectangle 28"/>
          <p:cNvSpPr/>
          <p:nvPr/>
        </p:nvSpPr>
        <p:spPr>
          <a:xfrm>
            <a:off x="2697480" y="3149756"/>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34640" y="3149756"/>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Topic 3 (part 1) — Negotiation and Consensus-Building</a:t>
            </a:r>
          </a:p>
        </p:txBody>
      </p:sp>
      <p:sp>
        <p:nvSpPr>
          <p:cNvPr id="31" name="TextBox 30"/>
          <p:cNvSpPr txBox="1"/>
          <p:nvPr/>
        </p:nvSpPr>
        <p:spPr>
          <a:xfrm>
            <a:off x="10424160" y="3149756"/>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35 min</a:t>
            </a:r>
          </a:p>
        </p:txBody>
      </p:sp>
      <p:sp>
        <p:nvSpPr>
          <p:cNvPr id="32" name="Rectangle 31"/>
          <p:cNvSpPr/>
          <p:nvPr/>
        </p:nvSpPr>
        <p:spPr>
          <a:xfrm>
            <a:off x="777240" y="3502855"/>
            <a:ext cx="1874519" cy="31652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3502855"/>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12:30pm – 1:30pm</a:t>
            </a:r>
          </a:p>
        </p:txBody>
      </p:sp>
      <p:sp>
        <p:nvSpPr>
          <p:cNvPr id="34" name="Rectangle 33"/>
          <p:cNvSpPr/>
          <p:nvPr/>
        </p:nvSpPr>
        <p:spPr>
          <a:xfrm>
            <a:off x="2697480" y="3502855"/>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34640" y="3502855"/>
            <a:ext cx="7589520" cy="316523"/>
          </a:xfrm>
          <a:prstGeom prst="rect">
            <a:avLst/>
          </a:prstGeom>
          <a:noFill/>
        </p:spPr>
        <p:txBody>
          <a:bodyPr wrap="square" anchor="ctr">
            <a:spAutoFit/>
          </a:bodyPr>
          <a:lstStyle/>
          <a:p>
            <a:pPr algn="l">
              <a:spcAft>
                <a:spcPts val="400"/>
              </a:spcAft>
            </a:pPr>
            <a:r>
              <a:rPr sz="1050" b="0">
                <a:solidFill>
                  <a:srgbClr val="161B26"/>
                </a:solidFill>
                <a:latin typeface="Arial"/>
              </a:rPr>
              <a:t>Lunch break</a:t>
            </a:r>
          </a:p>
        </p:txBody>
      </p:sp>
      <p:sp>
        <p:nvSpPr>
          <p:cNvPr id="36" name="TextBox 35"/>
          <p:cNvSpPr txBox="1"/>
          <p:nvPr/>
        </p:nvSpPr>
        <p:spPr>
          <a:xfrm>
            <a:off x="10424160" y="3502855"/>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60 min</a:t>
            </a:r>
          </a:p>
        </p:txBody>
      </p:sp>
      <p:sp>
        <p:nvSpPr>
          <p:cNvPr id="37" name="Rectangle 36"/>
          <p:cNvSpPr/>
          <p:nvPr/>
        </p:nvSpPr>
        <p:spPr>
          <a:xfrm>
            <a:off x="777240" y="3855954"/>
            <a:ext cx="1874519" cy="31652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855954"/>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1:30pm – 2:10pm</a:t>
            </a:r>
          </a:p>
        </p:txBody>
      </p:sp>
      <p:sp>
        <p:nvSpPr>
          <p:cNvPr id="39" name="Rectangle 38"/>
          <p:cNvSpPr/>
          <p:nvPr/>
        </p:nvSpPr>
        <p:spPr>
          <a:xfrm>
            <a:off x="2697480" y="3855954"/>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34640" y="3855954"/>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Topic 3 (part 2) — Activity 4 — Interest-Based Negotiation at CarePoint Clinics</a:t>
            </a:r>
          </a:p>
        </p:txBody>
      </p:sp>
      <p:sp>
        <p:nvSpPr>
          <p:cNvPr id="41" name="TextBox 40"/>
          <p:cNvSpPr txBox="1"/>
          <p:nvPr/>
        </p:nvSpPr>
        <p:spPr>
          <a:xfrm>
            <a:off x="10424160" y="3855954"/>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40 min</a:t>
            </a:r>
          </a:p>
        </p:txBody>
      </p:sp>
      <p:sp>
        <p:nvSpPr>
          <p:cNvPr id="42" name="Rectangle 41"/>
          <p:cNvSpPr/>
          <p:nvPr/>
        </p:nvSpPr>
        <p:spPr>
          <a:xfrm>
            <a:off x="777240" y="4209053"/>
            <a:ext cx="1874519" cy="31652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4209053"/>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2:10pm – 3:25pm</a:t>
            </a:r>
          </a:p>
        </p:txBody>
      </p:sp>
      <p:sp>
        <p:nvSpPr>
          <p:cNvPr id="44" name="Rectangle 43"/>
          <p:cNvSpPr/>
          <p:nvPr/>
        </p:nvSpPr>
        <p:spPr>
          <a:xfrm>
            <a:off x="2697480" y="4209053"/>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834640" y="4209053"/>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Topic 4 — Achieving Resolution and Protecting Organisational Interests</a:t>
            </a:r>
          </a:p>
        </p:txBody>
      </p:sp>
      <p:sp>
        <p:nvSpPr>
          <p:cNvPr id="46" name="TextBox 45"/>
          <p:cNvSpPr txBox="1"/>
          <p:nvPr/>
        </p:nvSpPr>
        <p:spPr>
          <a:xfrm>
            <a:off x="10424160" y="4209053"/>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75 min</a:t>
            </a:r>
          </a:p>
        </p:txBody>
      </p:sp>
      <p:sp>
        <p:nvSpPr>
          <p:cNvPr id="47" name="Rectangle 46"/>
          <p:cNvSpPr/>
          <p:nvPr/>
        </p:nvSpPr>
        <p:spPr>
          <a:xfrm>
            <a:off x="777240" y="4562152"/>
            <a:ext cx="1874519" cy="31652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7240" y="4562152"/>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3:25pm – 3:35pm</a:t>
            </a:r>
          </a:p>
        </p:txBody>
      </p:sp>
      <p:sp>
        <p:nvSpPr>
          <p:cNvPr id="49" name="Rectangle 48"/>
          <p:cNvSpPr/>
          <p:nvPr/>
        </p:nvSpPr>
        <p:spPr>
          <a:xfrm>
            <a:off x="2697480" y="4562152"/>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34640" y="4562152"/>
            <a:ext cx="7589520" cy="316523"/>
          </a:xfrm>
          <a:prstGeom prst="rect">
            <a:avLst/>
          </a:prstGeom>
          <a:noFill/>
        </p:spPr>
        <p:txBody>
          <a:bodyPr wrap="square" anchor="ctr">
            <a:spAutoFit/>
          </a:bodyPr>
          <a:lstStyle/>
          <a:p>
            <a:pPr algn="l">
              <a:spcAft>
                <a:spcPts val="400"/>
              </a:spcAft>
            </a:pPr>
            <a:r>
              <a:rPr sz="1050" b="0">
                <a:solidFill>
                  <a:srgbClr val="161B26"/>
                </a:solidFill>
                <a:latin typeface="Arial"/>
              </a:rPr>
              <a:t>Tea break</a:t>
            </a:r>
          </a:p>
        </p:txBody>
      </p:sp>
      <p:sp>
        <p:nvSpPr>
          <p:cNvPr id="51" name="TextBox 50"/>
          <p:cNvSpPr txBox="1"/>
          <p:nvPr/>
        </p:nvSpPr>
        <p:spPr>
          <a:xfrm>
            <a:off x="10424160" y="4562152"/>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10 min</a:t>
            </a:r>
          </a:p>
        </p:txBody>
      </p:sp>
      <p:sp>
        <p:nvSpPr>
          <p:cNvPr id="52" name="Rectangle 51"/>
          <p:cNvSpPr/>
          <p:nvPr/>
        </p:nvSpPr>
        <p:spPr>
          <a:xfrm>
            <a:off x="777240" y="4915251"/>
            <a:ext cx="1874519" cy="31652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4915251"/>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3:35pm – 4:50pm</a:t>
            </a:r>
          </a:p>
        </p:txBody>
      </p:sp>
      <p:sp>
        <p:nvSpPr>
          <p:cNvPr id="54" name="Rectangle 53"/>
          <p:cNvSpPr/>
          <p:nvPr/>
        </p:nvSpPr>
        <p:spPr>
          <a:xfrm>
            <a:off x="2697480" y="4915251"/>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834640" y="4915251"/>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Topic 5 — Sustaining a Conflict-Resilient Organisation</a:t>
            </a:r>
          </a:p>
        </p:txBody>
      </p:sp>
      <p:sp>
        <p:nvSpPr>
          <p:cNvPr id="56" name="TextBox 55"/>
          <p:cNvSpPr txBox="1"/>
          <p:nvPr/>
        </p:nvSpPr>
        <p:spPr>
          <a:xfrm>
            <a:off x="10424160" y="4915251"/>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75 min</a:t>
            </a:r>
          </a:p>
        </p:txBody>
      </p:sp>
      <p:sp>
        <p:nvSpPr>
          <p:cNvPr id="57" name="Rectangle 56"/>
          <p:cNvSpPr/>
          <p:nvPr/>
        </p:nvSpPr>
        <p:spPr>
          <a:xfrm>
            <a:off x="777240" y="5268350"/>
            <a:ext cx="1874519" cy="316523"/>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77240" y="5268350"/>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4:50pm – 5:00pm</a:t>
            </a:r>
          </a:p>
        </p:txBody>
      </p:sp>
      <p:sp>
        <p:nvSpPr>
          <p:cNvPr id="59" name="Rectangle 58"/>
          <p:cNvSpPr/>
          <p:nvPr/>
        </p:nvSpPr>
        <p:spPr>
          <a:xfrm>
            <a:off x="2697480" y="5268350"/>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834640" y="5268350"/>
            <a:ext cx="7589520" cy="316523"/>
          </a:xfrm>
          <a:prstGeom prst="rect">
            <a:avLst/>
          </a:prstGeom>
          <a:noFill/>
        </p:spPr>
        <p:txBody>
          <a:bodyPr wrap="square" anchor="ctr">
            <a:spAutoFit/>
          </a:bodyPr>
          <a:lstStyle/>
          <a:p>
            <a:pPr algn="l">
              <a:spcAft>
                <a:spcPts val="400"/>
              </a:spcAft>
            </a:pPr>
            <a:r>
              <a:rPr sz="1050" b="0">
                <a:solidFill>
                  <a:srgbClr val="161B26"/>
                </a:solidFill>
                <a:latin typeface="Arial"/>
              </a:rPr>
              <a:t>Course wrap-up, briefing for assessment, TRAQOM and assessment digital attendance</a:t>
            </a:r>
          </a:p>
        </p:txBody>
      </p:sp>
      <p:sp>
        <p:nvSpPr>
          <p:cNvPr id="61" name="TextBox 60"/>
          <p:cNvSpPr txBox="1"/>
          <p:nvPr/>
        </p:nvSpPr>
        <p:spPr>
          <a:xfrm>
            <a:off x="10424160" y="5268350"/>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10 min</a:t>
            </a:r>
          </a:p>
        </p:txBody>
      </p:sp>
      <p:sp>
        <p:nvSpPr>
          <p:cNvPr id="62" name="Rectangle 61"/>
          <p:cNvSpPr/>
          <p:nvPr/>
        </p:nvSpPr>
        <p:spPr>
          <a:xfrm>
            <a:off x="777240" y="5621449"/>
            <a:ext cx="1874519" cy="31652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5621449"/>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5:00pm – 5:30pm</a:t>
            </a:r>
          </a:p>
        </p:txBody>
      </p:sp>
      <p:sp>
        <p:nvSpPr>
          <p:cNvPr id="64" name="Rectangle 63"/>
          <p:cNvSpPr/>
          <p:nvPr/>
        </p:nvSpPr>
        <p:spPr>
          <a:xfrm>
            <a:off x="2697480" y="5621449"/>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834640" y="5621449"/>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Written Assessment (WA) — open-ended short-answer questions on LO1 and LO5, 30 minutes, open book</a:t>
            </a:r>
          </a:p>
        </p:txBody>
      </p:sp>
      <p:sp>
        <p:nvSpPr>
          <p:cNvPr id="66" name="TextBox 65"/>
          <p:cNvSpPr txBox="1"/>
          <p:nvPr/>
        </p:nvSpPr>
        <p:spPr>
          <a:xfrm>
            <a:off x="10424160" y="5621449"/>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30 min</a:t>
            </a:r>
          </a:p>
        </p:txBody>
      </p:sp>
      <p:sp>
        <p:nvSpPr>
          <p:cNvPr id="67" name="Rectangle 66"/>
          <p:cNvSpPr/>
          <p:nvPr/>
        </p:nvSpPr>
        <p:spPr>
          <a:xfrm>
            <a:off x="777240" y="5974548"/>
            <a:ext cx="1874519" cy="31652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77240" y="5974548"/>
            <a:ext cx="1874519" cy="316523"/>
          </a:xfrm>
          <a:prstGeom prst="rect">
            <a:avLst/>
          </a:prstGeom>
          <a:noFill/>
        </p:spPr>
        <p:txBody>
          <a:bodyPr wrap="square" anchor="ctr">
            <a:spAutoFit/>
          </a:bodyPr>
          <a:lstStyle/>
          <a:p>
            <a:pPr algn="ctr">
              <a:spcAft>
                <a:spcPts val="400"/>
              </a:spcAft>
            </a:pPr>
            <a:r>
              <a:rPr sz="1050" b="1">
                <a:solidFill>
                  <a:srgbClr val="FFFFFF"/>
                </a:solidFill>
                <a:latin typeface="Arial"/>
              </a:rPr>
              <a:t>5:30pm – 6:00pm</a:t>
            </a:r>
          </a:p>
        </p:txBody>
      </p:sp>
      <p:sp>
        <p:nvSpPr>
          <p:cNvPr id="69" name="Rectangle 68"/>
          <p:cNvSpPr/>
          <p:nvPr/>
        </p:nvSpPr>
        <p:spPr>
          <a:xfrm>
            <a:off x="2697480" y="5974548"/>
            <a:ext cx="8714232" cy="31652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834640" y="5974548"/>
            <a:ext cx="7589520" cy="316523"/>
          </a:xfrm>
          <a:prstGeom prst="rect">
            <a:avLst/>
          </a:prstGeom>
          <a:noFill/>
        </p:spPr>
        <p:txBody>
          <a:bodyPr wrap="square" anchor="ctr">
            <a:spAutoFit/>
          </a:bodyPr>
          <a:lstStyle/>
          <a:p>
            <a:pPr algn="l">
              <a:spcAft>
                <a:spcPts val="400"/>
              </a:spcAft>
            </a:pPr>
            <a:r>
              <a:rPr sz="1050" b="1">
                <a:solidFill>
                  <a:srgbClr val="161B26"/>
                </a:solidFill>
                <a:latin typeface="Arial"/>
              </a:rPr>
              <a:t>Live Role Play (RP) — individual observed role play on LO2, LO3 and LO4, 30 minutes</a:t>
            </a:r>
          </a:p>
        </p:txBody>
      </p:sp>
      <p:sp>
        <p:nvSpPr>
          <p:cNvPr id="71" name="TextBox 70"/>
          <p:cNvSpPr txBox="1"/>
          <p:nvPr/>
        </p:nvSpPr>
        <p:spPr>
          <a:xfrm>
            <a:off x="10424160" y="5974548"/>
            <a:ext cx="914400" cy="316523"/>
          </a:xfrm>
          <a:prstGeom prst="rect">
            <a:avLst/>
          </a:prstGeom>
          <a:noFill/>
        </p:spPr>
        <p:txBody>
          <a:bodyPr wrap="square" anchor="ctr">
            <a:spAutoFit/>
          </a:bodyPr>
          <a:lstStyle/>
          <a:p>
            <a:pPr algn="r">
              <a:spcAft>
                <a:spcPts val="400"/>
              </a:spcAft>
            </a:pPr>
            <a:r>
              <a:rPr sz="1000" b="0">
                <a:solidFill>
                  <a:srgbClr val="5B6372"/>
                </a:solidFill>
                <a:latin typeface="Arial"/>
              </a:rPr>
              <a:t>30 min</a:t>
            </a:r>
          </a:p>
        </p:txBody>
      </p:sp>
      <p:sp>
        <p:nvSpPr>
          <p:cNvPr id="72" name="TextBox 7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73" name="TextBox 7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4" name="TextBox 7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LO1 · Analyse and select</a:t>
            </a:r>
          </a:p>
          <a:p>
            <a:pPr algn="l">
              <a:spcAft>
                <a:spcPts val="300"/>
              </a:spcAft>
            </a:pPr>
            <a:r>
              <a:rPr sz="1200" b="0">
                <a:solidFill>
                  <a:srgbClr val="5B6372"/>
                </a:solidFill>
                <a:latin typeface="Arial"/>
              </a:rPr>
              <a:t>Analyse conflict types, escalation stages and the five management styles to choose a fitting approach.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LO2 · De-escalate</a:t>
            </a:r>
          </a:p>
          <a:p>
            <a:pPr algn="l">
              <a:spcAft>
                <a:spcPts val="300"/>
              </a:spcAft>
            </a:pPr>
            <a:r>
              <a:rPr sz="1200" b="0">
                <a:solidFill>
                  <a:srgbClr val="5B6372"/>
                </a:solidFill>
                <a:latin typeface="Arial"/>
              </a:rPr>
              <a:t>Use active listening, empathy, reframing and non-verbal skills to calm and steer conflict conversations.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LO3 · Negotiate and build consensus</a:t>
            </a:r>
          </a:p>
          <a:p>
            <a:pPr algn="l">
              <a:spcAft>
                <a:spcPts val="300"/>
              </a:spcAft>
            </a:pPr>
            <a:r>
              <a:rPr sz="1200" b="0">
                <a:solidFill>
                  <a:srgbClr val="5B6372"/>
                </a:solidFill>
                <a:latin typeface="Arial"/>
              </a:rPr>
              <a:t>Negotiate on interests, manage resistance and power, and test consensus on a shared agreement.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LO4 · Resolve and mediate</a:t>
            </a:r>
          </a:p>
          <a:p>
            <a:pPr algn="l">
              <a:spcAft>
                <a:spcPts val="300"/>
              </a:spcAft>
            </a:pPr>
            <a:r>
              <a:rPr sz="1200" b="0">
                <a:solidFill>
                  <a:srgbClr val="5B6372"/>
                </a:solidFill>
                <a:latin typeface="Arial"/>
              </a:rPr>
              <a:t>Run a structured resolution or mediation and turn it into an actionable, policy-aligned plan.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LO5 · Prevent recurrence</a:t>
            </a:r>
          </a:p>
          <a:p>
            <a:pPr algn="l">
              <a:spcAft>
                <a:spcPts val="300"/>
              </a:spcAft>
            </a:pPr>
            <a:r>
              <a:rPr sz="1200" b="0">
                <a:solidFill>
                  <a:srgbClr val="5B6372"/>
                </a:solidFill>
                <a:latin typeface="Arial"/>
              </a:rPr>
              <a:t>Set guidelines, escalation protocols and leadership habits that keep conflict constructive.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 or role plays.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and role plays end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  ·  5:00PM – 6:00PM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Open-ended short-answer questions on LO1 and LO5 · 30 minutes · open book.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Live Role Play (RP)</a:t>
            </a:r>
          </a:p>
          <a:p>
            <a:pPr algn="l">
              <a:spcAft>
                <a:spcPts val="300"/>
              </a:spcAft>
            </a:pPr>
            <a:r>
              <a:rPr sz="1200" b="0">
                <a:solidFill>
                  <a:srgbClr val="5B6372"/>
                </a:solidFill>
                <a:latin typeface="Arial"/>
              </a:rPr>
              <a:t>Individual, assessor-observed workplace conflict role play on LO2, LO3 and LO4 · 30 minutes.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 (WA)</a:t>
            </a:r>
          </a:p>
          <a:p>
            <a:pPr algn="l">
              <a:spcAft>
                <a:spcPts val="300"/>
              </a:spcAft>
            </a:pPr>
            <a:r>
              <a:rPr sz="1200" b="0">
                <a:solidFill>
                  <a:srgbClr val="5B6372"/>
                </a:solidFill>
                <a:latin typeface="Arial"/>
              </a:rPr>
              <a:t>You may use the course slides, the Learner Guide and approved materials.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Competent (C) or Not Yet Competent (NYC) — both instruments must be Competent.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Role Play</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WA 30 · Role Play 30 min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WA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TRAQOM, the assessment digital attendance and the signed Assessment Summary Record are all required — the Role Play is observed live by the assessor, the WA is submitted on the LMS.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a:t>
            </a:r>
          </a:p>
          <a:p>
            <a:pPr algn="l">
              <a:spcAft>
                <a:spcPts val="300"/>
              </a:spcAft>
            </a:pPr>
            <a:r>
              <a:rPr sz="1300" b="0">
                <a:solidFill>
                  <a:srgbClr val="5B6372"/>
                </a:solidFill>
                <a:latin typeface="Arial"/>
              </a:rPr>
              <a:t>Complete the mandatory TRAQOM step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675120" cy="3429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ms-login.png"/>
          <p:cNvPicPr>
            <a:picLocks noChangeAspect="1"/>
          </p:cNvPicPr>
          <p:nvPr/>
        </p:nvPicPr>
        <p:blipFill>
          <a:blip r:embed="rId2"/>
          <a:stretch>
            <a:fillRect/>
          </a:stretch>
        </p:blipFill>
        <p:spPr>
          <a:xfrm>
            <a:off x="822960" y="1828800"/>
            <a:ext cx="6583680" cy="3273552"/>
          </a:xfrm>
          <a:prstGeom prst="rect">
            <a:avLst/>
          </a:prstGeom>
        </p:spPr>
      </p:pic>
      <p:sp>
        <p:nvSpPr>
          <p:cNvPr id="9" name="Rectangle 8"/>
          <p:cNvSpPr/>
          <p:nvPr/>
        </p:nvSpPr>
        <p:spPr>
          <a:xfrm>
            <a:off x="777240" y="5349240"/>
            <a:ext cx="667512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349240"/>
            <a:ext cx="91440"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413248"/>
            <a:ext cx="6309360" cy="731520"/>
          </a:xfrm>
          <a:prstGeom prst="rect">
            <a:avLst/>
          </a:prstGeom>
          <a:noFill/>
        </p:spPr>
        <p:txBody>
          <a:bodyPr wrap="square" anchor="t">
            <a:spAutoFit/>
          </a:bodyPr>
          <a:lstStyle/>
          <a:p>
            <a:pPr algn="l">
              <a:spcAft>
                <a:spcPts val="400"/>
              </a:spcAft>
            </a:pPr>
            <a:r>
              <a:rPr sz="1200" b="0">
                <a:solidFill>
                  <a:srgbClr val="161B26"/>
                </a:solidFill>
                <a:latin typeface="Arial"/>
              </a:rPr>
              <a:t>Sign in with your registered e-mail and the one-time code (OTP), then open this course.</a:t>
            </a:r>
          </a:p>
          <a:p>
            <a:r>
              <a:rPr sz="1200" b="1">
                <a:solidFill>
                  <a:srgbClr val="1F6FEB"/>
                </a:solidFill>
                <a:latin typeface="Arial"/>
                <a:hlinkClick r:id="rId3"/>
              </a:rPr>
              <a:t>https://lms-tms.tertiaryinfotech.com/</a:t>
            </a:r>
          </a:p>
        </p:txBody>
      </p:sp>
      <p:sp>
        <p:nvSpPr>
          <p:cNvPr id="12" name="Rectangle 11"/>
          <p:cNvSpPr/>
          <p:nvPr/>
        </p:nvSpPr>
        <p:spPr>
          <a:xfrm>
            <a:off x="7726679" y="1783080"/>
            <a:ext cx="368503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1783080"/>
            <a:ext cx="82296" cy="7863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909560" y="1975104"/>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1975104"/>
            <a:ext cx="402336" cy="402336"/>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6" name="TextBox 15"/>
          <p:cNvSpPr txBox="1"/>
          <p:nvPr/>
        </p:nvSpPr>
        <p:spPr>
          <a:xfrm>
            <a:off x="8458200" y="1783080"/>
            <a:ext cx="2880360" cy="786384"/>
          </a:xfrm>
          <a:prstGeom prst="rect">
            <a:avLst/>
          </a:prstGeom>
          <a:noFill/>
        </p:spPr>
        <p:txBody>
          <a:bodyPr wrap="square" anchor="ctr">
            <a:spAutoFit/>
          </a:bodyPr>
          <a:lstStyle/>
          <a:p>
            <a:pPr algn="l">
              <a:spcAft>
                <a:spcPts val="200"/>
              </a:spcAft>
            </a:pPr>
            <a:r>
              <a:rPr sz="1300" b="1">
                <a:solidFill>
                  <a:srgbClr val="161B26"/>
                </a:solidFill>
                <a:latin typeface="Arial"/>
              </a:rPr>
              <a:t>Open the portal</a:t>
            </a:r>
          </a:p>
          <a:p>
            <a:pPr algn="l">
              <a:spcAft>
                <a:spcPts val="200"/>
              </a:spcAft>
            </a:pPr>
            <a:r>
              <a:rPr sz="1050" b="0">
                <a:solidFill>
                  <a:srgbClr val="5B6372"/>
                </a:solidFill>
                <a:latin typeface="Arial"/>
              </a:rPr>
              <a:t>lms-tms.tertiaryinfotech.com</a:t>
            </a:r>
          </a:p>
        </p:txBody>
      </p:sp>
      <p:sp>
        <p:nvSpPr>
          <p:cNvPr id="17" name="Rectangle 16"/>
          <p:cNvSpPr/>
          <p:nvPr/>
        </p:nvSpPr>
        <p:spPr>
          <a:xfrm>
            <a:off x="7726679" y="2670048"/>
            <a:ext cx="368503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26679" y="2670048"/>
            <a:ext cx="82296" cy="7863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909560" y="286207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2862072"/>
            <a:ext cx="402336" cy="402336"/>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21" name="TextBox 20"/>
          <p:cNvSpPr txBox="1"/>
          <p:nvPr/>
        </p:nvSpPr>
        <p:spPr>
          <a:xfrm>
            <a:off x="8458200" y="2670048"/>
            <a:ext cx="2880360" cy="786384"/>
          </a:xfrm>
          <a:prstGeom prst="rect">
            <a:avLst/>
          </a:prstGeom>
          <a:noFill/>
        </p:spPr>
        <p:txBody>
          <a:bodyPr wrap="square" anchor="ctr">
            <a:spAutoFit/>
          </a:bodyPr>
          <a:lstStyle/>
          <a:p>
            <a:pPr algn="l">
              <a:spcAft>
                <a:spcPts val="200"/>
              </a:spcAft>
            </a:pPr>
            <a:r>
              <a:rPr sz="1300" b="1">
                <a:solidFill>
                  <a:srgbClr val="161B26"/>
                </a:solidFill>
                <a:latin typeface="Arial"/>
              </a:rPr>
              <a:t>Send OTP</a:t>
            </a:r>
          </a:p>
          <a:p>
            <a:pPr algn="l">
              <a:spcAft>
                <a:spcPts val="200"/>
              </a:spcAft>
            </a:pPr>
            <a:r>
              <a:rPr sz="1050" b="0">
                <a:solidFill>
                  <a:srgbClr val="5B6372"/>
                </a:solidFill>
                <a:latin typeface="Arial"/>
              </a:rPr>
              <a:t>Use the e-mail you registered with</a:t>
            </a:r>
          </a:p>
        </p:txBody>
      </p:sp>
      <p:sp>
        <p:nvSpPr>
          <p:cNvPr id="22" name="Rectangle 21"/>
          <p:cNvSpPr/>
          <p:nvPr/>
        </p:nvSpPr>
        <p:spPr>
          <a:xfrm>
            <a:off x="7726679" y="3557016"/>
            <a:ext cx="368503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26679" y="3557016"/>
            <a:ext cx="82296" cy="7863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909560" y="374904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560" y="3749040"/>
            <a:ext cx="402336" cy="402336"/>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6" name="TextBox 25"/>
          <p:cNvSpPr txBox="1"/>
          <p:nvPr/>
        </p:nvSpPr>
        <p:spPr>
          <a:xfrm>
            <a:off x="8458200" y="3557016"/>
            <a:ext cx="2880360" cy="786384"/>
          </a:xfrm>
          <a:prstGeom prst="rect">
            <a:avLst/>
          </a:prstGeom>
          <a:noFill/>
        </p:spPr>
        <p:txBody>
          <a:bodyPr wrap="square" anchor="ctr">
            <a:spAutoFit/>
          </a:bodyPr>
          <a:lstStyle/>
          <a:p>
            <a:pPr algn="l">
              <a:spcAft>
                <a:spcPts val="200"/>
              </a:spcAft>
            </a:pPr>
            <a:r>
              <a:rPr sz="1300" b="1">
                <a:solidFill>
                  <a:srgbClr val="161B26"/>
                </a:solidFill>
                <a:latin typeface="Arial"/>
              </a:rPr>
              <a:t>Open this course</a:t>
            </a:r>
          </a:p>
          <a:p>
            <a:pPr algn="l">
              <a:spcAft>
                <a:spcPts val="200"/>
              </a:spcAft>
            </a:pPr>
            <a:r>
              <a:rPr sz="1050" b="0">
                <a:solidFill>
                  <a:srgbClr val="5B6372"/>
                </a:solidFill>
                <a:latin typeface="Arial"/>
              </a:rPr>
              <a:t>Conflict Management (TGS-2026066849)</a:t>
            </a:r>
          </a:p>
        </p:txBody>
      </p:sp>
      <p:sp>
        <p:nvSpPr>
          <p:cNvPr id="27" name="Rectangle 26"/>
          <p:cNvSpPr/>
          <p:nvPr/>
        </p:nvSpPr>
        <p:spPr>
          <a:xfrm>
            <a:off x="7726679" y="4443984"/>
            <a:ext cx="368503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26679" y="444398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09560" y="4636008"/>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09560" y="4636008"/>
            <a:ext cx="402336" cy="402336"/>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31" name="TextBox 30"/>
          <p:cNvSpPr txBox="1"/>
          <p:nvPr/>
        </p:nvSpPr>
        <p:spPr>
          <a:xfrm>
            <a:off x="8458200" y="4443984"/>
            <a:ext cx="2880360" cy="786384"/>
          </a:xfrm>
          <a:prstGeom prst="rect">
            <a:avLst/>
          </a:prstGeom>
          <a:noFill/>
        </p:spPr>
        <p:txBody>
          <a:bodyPr wrap="square" anchor="ctr">
            <a:spAutoFit/>
          </a:bodyPr>
          <a:lstStyle/>
          <a:p>
            <a:pPr algn="l">
              <a:spcAft>
                <a:spcPts val="200"/>
              </a:spcAft>
            </a:pPr>
            <a:r>
              <a:rPr sz="1300" b="1">
                <a:solidFill>
                  <a:srgbClr val="161B26"/>
                </a:solidFill>
                <a:latin typeface="Arial"/>
              </a:rPr>
              <a:t>Download materials</a:t>
            </a:r>
          </a:p>
          <a:p>
            <a:pPr algn="l">
              <a:spcAft>
                <a:spcPts val="200"/>
              </a:spcAft>
            </a:pPr>
            <a:r>
              <a:rPr sz="1050" b="0">
                <a:solidFill>
                  <a:srgbClr val="5B6372"/>
                </a:solidFill>
                <a:latin typeface="Arial"/>
              </a:rPr>
              <a:t>Slides PDF, Learner Guide, activity packs</a:t>
            </a:r>
          </a:p>
        </p:txBody>
      </p:sp>
      <p:sp>
        <p:nvSpPr>
          <p:cNvPr id="32" name="Rectangle 31"/>
          <p:cNvSpPr/>
          <p:nvPr/>
        </p:nvSpPr>
        <p:spPr>
          <a:xfrm>
            <a:off x="7726679" y="5330952"/>
            <a:ext cx="368503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26679" y="5330952"/>
            <a:ext cx="82296" cy="7863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909560" y="552297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9560" y="5522976"/>
            <a:ext cx="402336" cy="402336"/>
          </a:xfrm>
          <a:prstGeom prst="rect">
            <a:avLst/>
          </a:prstGeom>
          <a:noFill/>
        </p:spPr>
        <p:txBody>
          <a:bodyPr wrap="square" anchor="ctr">
            <a:spAutoFit/>
          </a:bodyPr>
          <a:lstStyle/>
          <a:p>
            <a:pPr algn="ctr">
              <a:spcAft>
                <a:spcPts val="400"/>
              </a:spcAft>
            </a:pPr>
            <a:r>
              <a:rPr sz="1400" b="1">
                <a:solidFill>
                  <a:srgbClr val="FFFFFF"/>
                </a:solidFill>
                <a:latin typeface="Arial"/>
              </a:rPr>
              <a:t>5</a:t>
            </a:r>
          </a:p>
        </p:txBody>
      </p:sp>
      <p:sp>
        <p:nvSpPr>
          <p:cNvPr id="36" name="TextBox 35"/>
          <p:cNvSpPr txBox="1"/>
          <p:nvPr/>
        </p:nvSpPr>
        <p:spPr>
          <a:xfrm>
            <a:off x="8458200" y="5330952"/>
            <a:ext cx="2880360" cy="786384"/>
          </a:xfrm>
          <a:prstGeom prst="rect">
            <a:avLst/>
          </a:prstGeom>
          <a:noFill/>
        </p:spPr>
        <p:txBody>
          <a:bodyPr wrap="square" anchor="ctr">
            <a:spAutoFit/>
          </a:bodyPr>
          <a:lstStyle/>
          <a:p>
            <a:pPr algn="l">
              <a:spcAft>
                <a:spcPts val="200"/>
              </a:spcAft>
            </a:pPr>
            <a:r>
              <a:rPr sz="1300" b="1">
                <a:solidFill>
                  <a:srgbClr val="161B26"/>
                </a:solidFill>
                <a:latin typeface="Arial"/>
              </a:rPr>
              <a:t>Assessment day</a:t>
            </a:r>
          </a:p>
          <a:p>
            <a:pPr algn="l">
              <a:spcAft>
                <a:spcPts val="200"/>
              </a:spcAft>
            </a:pPr>
            <a:r>
              <a:rPr sz="1050" b="0">
                <a:solidFill>
                  <a:srgbClr val="5B6372"/>
                </a:solidFill>
                <a:latin typeface="Arial"/>
              </a:rPr>
              <a:t>Submit the WA on the LMS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LEARNER RESOURCES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Files for the Eight Workplace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57200"/>
          </a:xfrm>
          <a:prstGeom prst="rect">
            <a:avLst/>
          </a:prstGeom>
          <a:noFill/>
        </p:spPr>
        <p:txBody>
          <a:bodyPr wrap="square" anchor="t">
            <a:spAutoFit/>
          </a:bodyPr>
          <a:lstStyle/>
          <a:p>
            <a:pPr algn="l">
              <a:spcAft>
                <a:spcPts val="400"/>
              </a:spcAft>
            </a:pPr>
            <a:r>
              <a:rPr sz="1500" b="0">
                <a:solidFill>
                  <a:srgbClr val="5B6372"/>
                </a:solidFill>
                <a:latin typeface="Arial"/>
              </a:rPr>
              <a:t>Every activity has its own folder with instructions, role cards, a worksheet and an observer checklist.</a:t>
            </a:r>
          </a:p>
        </p:txBody>
      </p:sp>
      <p:sp>
        <p:nvSpPr>
          <p:cNvPr id="8" name="Rectangle 7"/>
          <p:cNvSpPr/>
          <p:nvPr/>
        </p:nvSpPr>
        <p:spPr>
          <a:xfrm>
            <a:off x="777240" y="2377440"/>
            <a:ext cx="3392424" cy="2011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377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578608"/>
            <a:ext cx="2980944" cy="365760"/>
          </a:xfrm>
          <a:prstGeom prst="rect">
            <a:avLst/>
          </a:prstGeom>
          <a:noFill/>
        </p:spPr>
        <p:txBody>
          <a:bodyPr wrap="square" anchor="t">
            <a:spAutoFit/>
          </a:bodyPr>
          <a:lstStyle/>
          <a:p>
            <a:pPr algn="l">
              <a:spcAft>
                <a:spcPts val="400"/>
              </a:spcAft>
            </a:pPr>
            <a:r>
              <a:rPr sz="1400" b="1">
                <a:solidFill>
                  <a:srgbClr val="1F6FEB"/>
                </a:solidFill>
                <a:latin typeface="Arial"/>
              </a:rPr>
              <a:t>Option A · Browse online</a:t>
            </a:r>
          </a:p>
        </p:txBody>
      </p:sp>
      <p:sp>
        <p:nvSpPr>
          <p:cNvPr id="11" name="TextBox 10"/>
          <p:cNvSpPr txBox="1"/>
          <p:nvPr/>
        </p:nvSpPr>
        <p:spPr>
          <a:xfrm>
            <a:off x="996696" y="3017520"/>
            <a:ext cx="2980944" cy="1280160"/>
          </a:xfrm>
          <a:prstGeom prst="rect">
            <a:avLst/>
          </a:prstGeom>
          <a:noFill/>
        </p:spPr>
        <p:txBody>
          <a:bodyPr wrap="square" anchor="t">
            <a:spAutoFit/>
          </a:bodyPr>
          <a:lstStyle/>
          <a:p>
            <a:pPr algn="l">
              <a:spcAft>
                <a:spcPts val="400"/>
              </a:spcAft>
            </a:pPr>
            <a:r>
              <a:rPr sz="1250" b="0">
                <a:solidFill>
                  <a:srgbClr val="161B26"/>
                </a:solidFill>
                <a:latin typeface="Arial"/>
              </a:rPr>
              <a:t>Open the course repository and the labs/ folder; each Activity-NN folder is self-contained.</a:t>
            </a:r>
          </a:p>
        </p:txBody>
      </p:sp>
      <p:sp>
        <p:nvSpPr>
          <p:cNvPr id="12" name="Rectangle 11"/>
          <p:cNvSpPr/>
          <p:nvPr/>
        </p:nvSpPr>
        <p:spPr>
          <a:xfrm>
            <a:off x="4398264" y="2377440"/>
            <a:ext cx="3392424" cy="2011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8264" y="2377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578608"/>
            <a:ext cx="2980944" cy="365760"/>
          </a:xfrm>
          <a:prstGeom prst="rect">
            <a:avLst/>
          </a:prstGeom>
          <a:noFill/>
        </p:spPr>
        <p:txBody>
          <a:bodyPr wrap="square" anchor="t">
            <a:spAutoFit/>
          </a:bodyPr>
          <a:lstStyle/>
          <a:p>
            <a:pPr algn="l">
              <a:spcAft>
                <a:spcPts val="400"/>
              </a:spcAft>
            </a:pPr>
            <a:r>
              <a:rPr sz="1400" b="1">
                <a:solidFill>
                  <a:srgbClr val="10B981"/>
                </a:solidFill>
                <a:latin typeface="Arial"/>
              </a:rPr>
              <a:t>Option B · Download ZIP</a:t>
            </a:r>
          </a:p>
        </p:txBody>
      </p:sp>
      <p:sp>
        <p:nvSpPr>
          <p:cNvPr id="15" name="TextBox 14"/>
          <p:cNvSpPr txBox="1"/>
          <p:nvPr/>
        </p:nvSpPr>
        <p:spPr>
          <a:xfrm>
            <a:off x="4617720" y="3017520"/>
            <a:ext cx="2980944" cy="1280160"/>
          </a:xfrm>
          <a:prstGeom prst="rect">
            <a:avLst/>
          </a:prstGeom>
          <a:noFill/>
        </p:spPr>
        <p:txBody>
          <a:bodyPr wrap="square" anchor="t">
            <a:spAutoFit/>
          </a:bodyPr>
          <a:lstStyle/>
          <a:p>
            <a:pPr algn="l">
              <a:spcAft>
                <a:spcPts val="400"/>
              </a:spcAft>
            </a:pPr>
            <a:r>
              <a:rPr sz="1250" b="0">
                <a:solidFill>
                  <a:srgbClr val="161B26"/>
                </a:solidFill>
                <a:latin typeface="Arial"/>
              </a:rPr>
              <a:t>On GitHub choose Code → Download ZIP, unzip, and open labs/README.md for the activity list.</a:t>
            </a:r>
          </a:p>
        </p:txBody>
      </p:sp>
      <p:sp>
        <p:nvSpPr>
          <p:cNvPr id="16" name="Rectangle 15"/>
          <p:cNvSpPr/>
          <p:nvPr/>
        </p:nvSpPr>
        <p:spPr>
          <a:xfrm>
            <a:off x="8019288" y="2377440"/>
            <a:ext cx="3392424" cy="2011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19288" y="2377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578608"/>
            <a:ext cx="2980944" cy="365760"/>
          </a:xfrm>
          <a:prstGeom prst="rect">
            <a:avLst/>
          </a:prstGeom>
          <a:noFill/>
        </p:spPr>
        <p:txBody>
          <a:bodyPr wrap="square" anchor="t">
            <a:spAutoFit/>
          </a:bodyPr>
          <a:lstStyle/>
          <a:p>
            <a:pPr algn="l">
              <a:spcAft>
                <a:spcPts val="400"/>
              </a:spcAft>
            </a:pPr>
            <a:r>
              <a:rPr sz="1400" b="1">
                <a:solidFill>
                  <a:srgbClr val="7C3AED"/>
                </a:solidFill>
                <a:latin typeface="Arial"/>
              </a:rPr>
              <a:t>Option C · From the LMS</a:t>
            </a:r>
          </a:p>
        </p:txBody>
      </p:sp>
      <p:sp>
        <p:nvSpPr>
          <p:cNvPr id="19" name="TextBox 18"/>
          <p:cNvSpPr txBox="1"/>
          <p:nvPr/>
        </p:nvSpPr>
        <p:spPr>
          <a:xfrm>
            <a:off x="8238744" y="3017520"/>
            <a:ext cx="2980944" cy="1280160"/>
          </a:xfrm>
          <a:prstGeom prst="rect">
            <a:avLst/>
          </a:prstGeom>
          <a:noFill/>
        </p:spPr>
        <p:txBody>
          <a:bodyPr wrap="square" anchor="t">
            <a:spAutoFit/>
          </a:bodyPr>
          <a:lstStyle/>
          <a:p>
            <a:pPr algn="l">
              <a:spcAft>
                <a:spcPts val="400"/>
              </a:spcAft>
            </a:pPr>
            <a:r>
              <a:rPr sz="1250" b="0">
                <a:solidFill>
                  <a:srgbClr val="161B26"/>
                </a:solidFill>
                <a:latin typeface="Arial"/>
              </a:rPr>
              <a:t>Download the Learner Guide PDF — it repeats every activity's scenario, roles and steps.</a:t>
            </a:r>
          </a:p>
        </p:txBody>
      </p:sp>
      <p:sp>
        <p:nvSpPr>
          <p:cNvPr id="20" name="Rectangle 19"/>
          <p:cNvSpPr/>
          <p:nvPr/>
        </p:nvSpPr>
        <p:spPr>
          <a:xfrm>
            <a:off x="777240" y="4617720"/>
            <a:ext cx="10634472"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617720"/>
            <a:ext cx="91440" cy="14630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754880"/>
            <a:ext cx="10149840" cy="365760"/>
          </a:xfrm>
          <a:prstGeom prst="rect">
            <a:avLst/>
          </a:prstGeom>
          <a:noFill/>
        </p:spPr>
        <p:txBody>
          <a:bodyPr wrap="square" anchor="t">
            <a:spAutoFit/>
          </a:bodyPr>
          <a:lstStyle/>
          <a:p>
            <a:pPr algn="l">
              <a:spcAft>
                <a:spcPts val="400"/>
              </a:spcAft>
            </a:pPr>
            <a:r>
              <a:rPr sz="1100" b="1">
                <a:solidFill>
                  <a:srgbClr val="1F6FEB"/>
                </a:solidFill>
                <a:latin typeface="Arial"/>
              </a:rPr>
              <a:t>COURSE REPOSITORY  (click to open)</a:t>
            </a:r>
          </a:p>
          <a:p>
            <a:r>
              <a:rPr sz="1600" b="1">
                <a:solidFill>
                  <a:srgbClr val="1F6FEB"/>
                </a:solidFill>
                <a:latin typeface="Arial"/>
                <a:hlinkClick r:id="rId2"/>
              </a:rPr>
              <a:t>https://github.com/tertiarycourses/TGS-2026066849-Conflict-Management</a:t>
            </a:r>
          </a:p>
        </p:txBody>
      </p:sp>
      <p:sp>
        <p:nvSpPr>
          <p:cNvPr id="23" name="TextBox 22"/>
          <p:cNvSpPr txBox="1"/>
          <p:nvPr/>
        </p:nvSpPr>
        <p:spPr>
          <a:xfrm>
            <a:off x="1051560" y="5532120"/>
            <a:ext cx="10149840" cy="457200"/>
          </a:xfrm>
          <a:prstGeom prst="rect">
            <a:avLst/>
          </a:prstGeom>
          <a:noFill/>
        </p:spPr>
        <p:txBody>
          <a:bodyPr wrap="square" anchor="t">
            <a:spAutoFit/>
          </a:bodyPr>
          <a:lstStyle/>
          <a:p>
            <a:pPr algn="l">
              <a:spcAft>
                <a:spcPts val="400"/>
              </a:spcAft>
            </a:pPr>
            <a:r>
              <a:rPr sz="1100" b="0">
                <a:solidFill>
                  <a:srgbClr val="5B6372"/>
                </a:solidFill>
                <a:latin typeface="Arial"/>
              </a:rPr>
              <a:t>Cases are fictional workplace simulations. Never disclose a real colleague's conflict; any participant may pause or switch roles.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HOW TODAY FITS TOGETHER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Conflict Management Playbook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Recognise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Type, stage and signals</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Regulate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Listen and de-escalate</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Negotiate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Interests and consensus</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Resolve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Mediate and plan</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Prevent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Guide, lead, review</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ONE TOPIC PER MOVE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Topics 1 to 5 follow the playbook in order — each activity practises one move before the next builds on it.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  ·  LO1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Understanding Workplace Conflict and Management Styles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Conflict types · Escalation cycle · Warning signs · Thomas-Kilmann modes · Situational selection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advClick="1">
    <p:push dir="l"/>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KEY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Conflict &amp; Management Styles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Conflict is a perceived threat</a:t>
            </a:r>
          </a:p>
          <a:p>
            <a:pPr algn="l">
              <a:spcAft>
                <a:spcPts val="300"/>
              </a:spcAft>
            </a:pPr>
            <a:r>
              <a:rPr sz="1100" b="0">
                <a:solidFill>
                  <a:srgbClr val="5B6372"/>
                </a:solidFill>
                <a:latin typeface="Arial"/>
              </a:rPr>
              <a:t>Conflict arises when a party perceives that important goals, interests, values, roles or resources are blocked — disagreement alone is not conflict.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Four conflict types</a:t>
            </a:r>
          </a:p>
          <a:p>
            <a:pPr algn="l">
              <a:spcAft>
                <a:spcPts val="300"/>
              </a:spcAft>
            </a:pPr>
            <a:r>
              <a:rPr sz="1100" b="0">
                <a:solidFill>
                  <a:srgbClr val="5B6372"/>
                </a:solidFill>
                <a:latin typeface="Arial"/>
              </a:rPr>
              <a:t>Task (what to do), process (how and who), relationship (how we treat each other) and values (what matters). Most real cases mix types.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Escalation cycle</a:t>
            </a:r>
          </a:p>
          <a:p>
            <a:pPr algn="l">
              <a:spcAft>
                <a:spcPts val="300"/>
              </a:spcAft>
            </a:pPr>
            <a:r>
              <a:rPr sz="1100" b="0">
                <a:solidFill>
                  <a:srgbClr val="5B6372"/>
                </a:solidFill>
                <a:latin typeface="Arial"/>
              </a:rPr>
              <a:t>Latent conditions become perceived, then felt, then manifest behaviour; the aftermath either repairs or reinforces the pattern.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Early warning signs</a:t>
            </a:r>
          </a:p>
          <a:p>
            <a:pPr algn="l">
              <a:spcAft>
                <a:spcPts val="300"/>
              </a:spcAft>
            </a:pPr>
            <a:r>
              <a:rPr sz="1100" b="0">
                <a:solidFill>
                  <a:srgbClr val="5B6372"/>
                </a:solidFill>
                <a:latin typeface="Arial"/>
              </a:rPr>
              <a:t>Silence, side-channel messages, missed handoffs, rework, withdrawal, complaints and declining service are data, not proof of blame.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Thomas-Kilmann modes</a:t>
            </a:r>
          </a:p>
          <a:p>
            <a:pPr algn="l">
              <a:spcAft>
                <a:spcPts val="300"/>
              </a:spcAft>
            </a:pPr>
            <a:r>
              <a:rPr sz="1100" b="0">
                <a:solidFill>
                  <a:srgbClr val="5B6372"/>
                </a:solidFill>
                <a:latin typeface="Arial"/>
              </a:rPr>
              <a:t>Competing, collaborating, compromising, avoiding and accommodating sit on two axes: assertiveness and cooperativeness.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Choose by situation</a:t>
            </a:r>
          </a:p>
          <a:p>
            <a:pPr algn="l">
              <a:spcAft>
                <a:spcPts val="300"/>
              </a:spcAft>
            </a:pPr>
            <a:r>
              <a:rPr sz="1100" b="0">
                <a:solidFill>
                  <a:srgbClr val="5B6372"/>
                </a:solidFill>
                <a:latin typeface="Arial"/>
              </a:rPr>
              <a:t>Select the mode from safety, stakes, relationship, power and voice, time and authority — never from habit or preference.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SOURCES &amp;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Types of Workplace Conflict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is about</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Typical early signal</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Useful first move</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Task</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What the work should be — goals, priorities, quality</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Repeated debate on direction; rework</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Clarify the goal and the evidence</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Process</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How and by whom — roles, handoffs, decision rights</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Missed handoffs; 'not my job'</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Map the workflow and decision rights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Relationship</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How people treat each other — trust, respect</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Avoidance, sarcasm, side channels</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Separate people from the problem</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Values</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What matters — ethics, identity, fairness</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Moral language; 'it's a matter of principle'</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Find shared higher goals; respect limits</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Most real cases mix types. A process gap (no roster record) often grows into a relationship conflict — fix the process and the relationship can recover.</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01 · WARNING SIGNS &amp; IMPACT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Conflict Is Data Before It Becomes Damage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Communication</a:t>
            </a:r>
          </a:p>
          <a:p>
            <a:pPr algn="l">
              <a:spcAft>
                <a:spcPts val="300"/>
              </a:spcAft>
            </a:pPr>
            <a:r>
              <a:rPr sz="1100" b="0">
                <a:solidFill>
                  <a:srgbClr val="5B6372"/>
                </a:solidFill>
                <a:latin typeface="Arial"/>
              </a:rPr>
              <a:t>Silence, interruptions, sarcasm, messages that bypass normal channels.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Coordination</a:t>
            </a:r>
          </a:p>
          <a:p>
            <a:pPr algn="l">
              <a:spcAft>
                <a:spcPts val="300"/>
              </a:spcAft>
            </a:pPr>
            <a:r>
              <a:rPr sz="1100" b="0">
                <a:solidFill>
                  <a:srgbClr val="5B6372"/>
                </a:solidFill>
                <a:latin typeface="Arial"/>
              </a:rPr>
              <a:t>Missed handoffs, duplicated work, withheld information, reversed decisions.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People</a:t>
            </a:r>
          </a:p>
          <a:p>
            <a:pPr algn="l">
              <a:spcAft>
                <a:spcPts val="300"/>
              </a:spcAft>
            </a:pPr>
            <a:r>
              <a:rPr sz="1100" b="0">
                <a:solidFill>
                  <a:srgbClr val="5B6372"/>
                </a:solidFill>
                <a:latin typeface="Arial"/>
              </a:rPr>
              <a:t>Withdrawal, visible stress, cliques, absenteeism, requests to change teams.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Performance</a:t>
            </a:r>
          </a:p>
          <a:p>
            <a:pPr algn="l">
              <a:spcAft>
                <a:spcPts val="300"/>
              </a:spcAft>
            </a:pPr>
            <a:r>
              <a:rPr sz="1100" b="0">
                <a:solidFill>
                  <a:srgbClr val="5B6372"/>
                </a:solidFill>
                <a:latin typeface="Arial"/>
              </a:rPr>
              <a:t>Rework, delays, quality escapes, declining output.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Customers</a:t>
            </a:r>
          </a:p>
          <a:p>
            <a:pPr algn="l">
              <a:spcAft>
                <a:spcPts val="300"/>
              </a:spcAft>
            </a:pPr>
            <a:r>
              <a:rPr sz="1100" b="0">
                <a:solidFill>
                  <a:srgbClr val="5B6372"/>
                </a:solidFill>
                <a:latin typeface="Arial"/>
              </a:rPr>
              <a:t>Complaints, returned handoffs, inconsistent service.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Risk</a:t>
            </a:r>
          </a:p>
          <a:p>
            <a:pPr algn="l">
              <a:spcAft>
                <a:spcPts val="300"/>
              </a:spcAft>
            </a:pPr>
            <a:r>
              <a:rPr sz="1100" b="0">
                <a:solidFill>
                  <a:srgbClr val="5B6372"/>
                </a:solidFill>
                <a:latin typeface="Arial"/>
              </a:rPr>
              <a:t>Threats, harassment, discrimination or retaliation — escalate under policy.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ESCALATION &amp; TRIGGERS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Conflict Escalation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Latent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Scarce resources, roles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Perceived</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 threat is recognised</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Felt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Stress, anger, fear</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Manifest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Behaviour others can see</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Aftermath</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Repair or reinforce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trigger — a public remark, an unfair roster, a missed deadline — moves conflict up a stage. Intervene at the earliest stage that evidence and safety allow.</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CONFLICT MANAGEMENT STYLES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Thomas-Kilmann Modes on Two Dimensions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7C3AED"/>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Relative position of each mode on the Thomas-Kilmann model (1 = low, 5 = high) — not a measured score. Every mode is useful somewhere; the skill is choosing deliberately rather than defaulting to your favourite.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THOMAS-KILMANN MODES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Five Modes — Use Well, Overuse Badly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Helpful when…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Costly when overused…</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Competing</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Urgent safety or a non-negotiable standard</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Used to protect ego or silence dissent</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Collaborating</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Important, interdependent issue with time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Applied to trivial issues — burns time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Compromising</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Time pressure, equal power, divisible issue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Splits value before interests are explored</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Avoiding</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Cooling off; issue is trivial or not yours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recurring fairness problem is ignored</a:t>
            </a:r>
          </a:p>
        </p:txBody>
      </p:sp>
      <p:sp>
        <p:nvSpPr>
          <p:cNvPr id="37" name="Rectangle 36"/>
          <p:cNvSpPr/>
          <p:nvPr/>
        </p:nvSpPr>
        <p:spPr>
          <a:xfrm>
            <a:off x="777240" y="5111496"/>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5111496"/>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Accommodating</a:t>
            </a:r>
          </a:p>
        </p:txBody>
      </p:sp>
      <p:sp>
        <p:nvSpPr>
          <p:cNvPr id="39" name="Rectangle 38"/>
          <p:cNvSpPr/>
          <p:nvPr/>
        </p:nvSpPr>
        <p:spPr>
          <a:xfrm>
            <a:off x="3542202" y="5111496"/>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5111496"/>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Low-value preference; goodwill matters</a:t>
            </a:r>
          </a:p>
        </p:txBody>
      </p:sp>
      <p:sp>
        <p:nvSpPr>
          <p:cNvPr id="41" name="Rectangle 40"/>
          <p:cNvSpPr/>
          <p:nvPr/>
        </p:nvSpPr>
        <p:spPr>
          <a:xfrm>
            <a:off x="7476957" y="5111496"/>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5111496"/>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Resentment builds; your needs disappear</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SITUATIONAL CRITERIA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Selecting an Appropriate Approach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Urgent safety risk or a
non-negotiable standard?</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compete within authority, then collaborate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Decide now to protect people or the standard; afterwards collaborate on the follow-up so the relationship is repaired.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score the situation</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High stakes + high relationship → collaborate. Time-critical, equal power → compromise. Low stakes → accommodate. Emotions high → avoid briefly, then return.</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Situational criteria: safety · stakes · relationship · power and voice · time · authority. Score them before you choose a mode.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01 · ACTIVITY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Conflict Signal Triage at LionCity Retail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1</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Case study · small-group analysis  ·  25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LionCity Retail's Orchard service team is preparing for a major promotion. Over three weeks, two experienced staff have repeatedly swapped shifts, team huddles have become quiet, and four customer handoffs were returned for missing information.</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Classify the conflict type and escalation stage from early warning signs, assess organisational impact and decide a safe first response.</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 signal log, a conflict-type and escalation-stage map, and a first-response decision with an escalation boundary.</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Signal log · conflict-type and stage map · triage matrix</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LionCity Retail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Aisha privately tells supervisor Marcus that weekend duties are being allocated unfairly. Ben, the roster coordinator, says Aisha is refusing to cooperate. Marcus has only fragments of chat messages and no agreed roster-change record. The promotion starts in five days.</a:t>
            </a:r>
          </a:p>
        </p:txBody>
      </p:sp>
      <p:sp>
        <p:nvSpPr>
          <p:cNvPr id="8" name="Rectangle 7"/>
          <p:cNvSpPr/>
          <p:nvPr/>
        </p:nvSpPr>
        <p:spPr>
          <a:xfrm>
            <a:off x="777240"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M</a:t>
            </a:r>
          </a:p>
        </p:txBody>
      </p:sp>
      <p:sp>
        <p:nvSpPr>
          <p:cNvPr id="12" name="TextBox 11"/>
          <p:cNvSpPr txBox="1"/>
          <p:nvPr/>
        </p:nvSpPr>
        <p:spPr>
          <a:xfrm>
            <a:off x="1645920"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Marcus · Supervisor</a:t>
            </a:r>
          </a:p>
        </p:txBody>
      </p:sp>
      <p:sp>
        <p:nvSpPr>
          <p:cNvPr id="13" name="TextBox 12"/>
          <p:cNvSpPr txBox="1"/>
          <p:nvPr/>
        </p:nvSpPr>
        <p:spPr>
          <a:xfrm>
            <a:off x="978408" y="37033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Protect service continuity and fairness.</a:t>
            </a:r>
          </a:p>
        </p:txBody>
      </p:sp>
      <p:sp>
        <p:nvSpPr>
          <p:cNvPr id="15" name="TextBox 14"/>
          <p:cNvSpPr txBox="1"/>
          <p:nvPr/>
        </p:nvSpPr>
        <p:spPr>
          <a:xfrm>
            <a:off x="978408" y="46177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Must decide what to clarify now and what requires escalation.</a:t>
            </a:r>
          </a:p>
        </p:txBody>
      </p:sp>
      <p:sp>
        <p:nvSpPr>
          <p:cNvPr id="17" name="Rectangle 16"/>
          <p:cNvSpPr/>
          <p:nvPr/>
        </p:nvSpPr>
        <p:spPr>
          <a:xfrm>
            <a:off x="4398264"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269748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99432"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A</a:t>
            </a:r>
          </a:p>
        </p:txBody>
      </p:sp>
      <p:sp>
        <p:nvSpPr>
          <p:cNvPr id="21" name="TextBox 20"/>
          <p:cNvSpPr txBox="1"/>
          <p:nvPr/>
        </p:nvSpPr>
        <p:spPr>
          <a:xfrm>
            <a:off x="5266944"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Aisha · Senior Associate</a:t>
            </a:r>
          </a:p>
        </p:txBody>
      </p:sp>
      <p:sp>
        <p:nvSpPr>
          <p:cNvPr id="22" name="TextBox 21"/>
          <p:cNvSpPr txBox="1"/>
          <p:nvPr/>
        </p:nvSpPr>
        <p:spPr>
          <a:xfrm>
            <a:off x="4599432" y="37033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4599432"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Be heard without retaliation.</a:t>
            </a:r>
          </a:p>
        </p:txBody>
      </p:sp>
      <p:sp>
        <p:nvSpPr>
          <p:cNvPr id="24" name="TextBox 23"/>
          <p:cNvSpPr txBox="1"/>
          <p:nvPr/>
        </p:nvSpPr>
        <p:spPr>
          <a:xfrm>
            <a:off x="4599432" y="46177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4599432"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Believes a pattern — not one incident — shows unfair weekend allocation.</a:t>
            </a:r>
          </a:p>
        </p:txBody>
      </p:sp>
      <p:sp>
        <p:nvSpPr>
          <p:cNvPr id="26" name="Rectangle 25"/>
          <p:cNvSpPr/>
          <p:nvPr/>
        </p:nvSpPr>
        <p:spPr>
          <a:xfrm>
            <a:off x="8019288"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69748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0456"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045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B</a:t>
            </a:r>
          </a:p>
        </p:txBody>
      </p:sp>
      <p:sp>
        <p:nvSpPr>
          <p:cNvPr id="30" name="TextBox 29"/>
          <p:cNvSpPr txBox="1"/>
          <p:nvPr/>
        </p:nvSpPr>
        <p:spPr>
          <a:xfrm>
            <a:off x="8887968"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Ben · Roster Coordinator</a:t>
            </a:r>
          </a:p>
        </p:txBody>
      </p:sp>
      <p:sp>
        <p:nvSpPr>
          <p:cNvPr id="31" name="TextBox 30"/>
          <p:cNvSpPr txBox="1"/>
          <p:nvPr/>
        </p:nvSpPr>
        <p:spPr>
          <a:xfrm>
            <a:off x="8220456" y="37033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8220456"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Defend operational decisions.</a:t>
            </a:r>
          </a:p>
        </p:txBody>
      </p:sp>
      <p:sp>
        <p:nvSpPr>
          <p:cNvPr id="33" name="TextBox 32"/>
          <p:cNvSpPr txBox="1"/>
          <p:nvPr/>
        </p:nvSpPr>
        <p:spPr>
          <a:xfrm>
            <a:off x="8220456" y="46177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8220456"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Says roster changes followed availability and were not personal.</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1 Runs — 25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Individual case read</a:t>
            </a:r>
          </a:p>
        </p:txBody>
      </p:sp>
      <p:sp>
        <p:nvSpPr>
          <p:cNvPr id="12" name="TextBox 11"/>
          <p:cNvSpPr txBox="1"/>
          <p:nvPr/>
        </p:nvSpPr>
        <p:spPr>
          <a:xfrm>
            <a:off x="8686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13" name="Connector 12"/>
          <p:cNvCxnSpPr/>
          <p:nvPr/>
        </p:nvCxnSpPr>
        <p:spPr>
          <a:xfrm>
            <a:off x="228447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Signal log and fact/claim separation</a:t>
            </a:r>
          </a:p>
        </p:txBody>
      </p:sp>
      <p:sp>
        <p:nvSpPr>
          <p:cNvPr id="19" name="TextBox 18"/>
          <p:cNvSpPr txBox="1"/>
          <p:nvPr/>
        </p:nvSpPr>
        <p:spPr>
          <a:xfrm>
            <a:off x="270510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20" name="Connector 19"/>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Conflict type and stage mapping</a:t>
            </a:r>
          </a:p>
        </p:txBody>
      </p:sp>
      <p:sp>
        <p:nvSpPr>
          <p:cNvPr id="26" name="TextBox 25"/>
          <p:cNvSpPr txBox="1"/>
          <p:nvPr/>
        </p:nvSpPr>
        <p:spPr>
          <a:xfrm>
            <a:off x="454152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27" name="Connector 26"/>
          <p:cNvCxnSpPr/>
          <p:nvPr/>
        </p:nvCxnSpPr>
        <p:spPr>
          <a:xfrm>
            <a:off x="595731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Impact rating and risk screen</a:t>
            </a:r>
          </a:p>
        </p:txBody>
      </p:sp>
      <p:sp>
        <p:nvSpPr>
          <p:cNvPr id="33" name="TextBox 32"/>
          <p:cNvSpPr txBox="1"/>
          <p:nvPr/>
        </p:nvSpPr>
        <p:spPr>
          <a:xfrm>
            <a:off x="637794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34" name="Connector 33"/>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First response and escalation boundary</a:t>
            </a:r>
          </a:p>
        </p:txBody>
      </p:sp>
      <p:sp>
        <p:nvSpPr>
          <p:cNvPr id="40" name="TextBox 39"/>
          <p:cNvSpPr txBox="1"/>
          <p:nvPr/>
        </p:nvSpPr>
        <p:spPr>
          <a:xfrm>
            <a:off x="821436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41" name="Connector 40"/>
          <p:cNvCxnSpPr/>
          <p:nvPr/>
        </p:nvCxnSpPr>
        <p:spPr>
          <a:xfrm>
            <a:off x="963015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60-second briefing and peer challenge</a:t>
            </a:r>
          </a:p>
        </p:txBody>
      </p:sp>
      <p:sp>
        <p:nvSpPr>
          <p:cNvPr id="47" name="TextBox 46"/>
          <p:cNvSpPr txBox="1"/>
          <p:nvPr/>
        </p:nvSpPr>
        <p:spPr>
          <a:xfrm>
            <a:off x="100507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Classify the conflict type and escalation stage from early warning signs, assess organisational impact and decide a safe first response.</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Read for observable facts</a:t>
            </a:r>
          </a:p>
          <a:p>
            <a:pPr algn="l">
              <a:spcAft>
                <a:spcPts val="100"/>
              </a:spcAft>
            </a:pPr>
            <a:r>
              <a:rPr sz="1050" b="0">
                <a:solidFill>
                  <a:srgbClr val="5B6372"/>
                </a:solidFill>
                <a:latin typeface="Arial"/>
              </a:rPr>
              <a:t>Read the case once without discussing blame. Underline only what a person could directly see, hear, count or verify in a record.</a:t>
            </a:r>
          </a:p>
        </p:txBody>
      </p:sp>
      <p:sp>
        <p:nvSpPr>
          <p:cNvPr id="12" name="Rectangle 11"/>
          <p:cNvSpPr/>
          <p:nvPr/>
        </p:nvSpPr>
        <p:spPr>
          <a:xfrm>
            <a:off x="777240"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Separate claims and interpretations</a:t>
            </a:r>
          </a:p>
          <a:p>
            <a:pPr algn="l">
              <a:spcAft>
                <a:spcPts val="100"/>
              </a:spcAft>
            </a:pPr>
            <a:r>
              <a:rPr sz="1050" b="0">
                <a:solidFill>
                  <a:srgbClr val="5B6372"/>
                </a:solidFill>
                <a:latin typeface="Arial"/>
              </a:rPr>
              <a:t>Move reported claims to a second column and interpretations to a third. Rewrite labels such as 'uncooperative' as specific behaviour, context and frequency.</a:t>
            </a:r>
          </a:p>
        </p:txBody>
      </p:sp>
      <p:sp>
        <p:nvSpPr>
          <p:cNvPr id="17" name="Rectangle 16"/>
          <p:cNvSpPr/>
          <p:nvPr/>
        </p:nvSpPr>
        <p:spPr>
          <a:xfrm>
            <a:off x="777240"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Classify the conflict type</a:t>
            </a:r>
          </a:p>
          <a:p>
            <a:pPr algn="l">
              <a:spcAft>
                <a:spcPts val="100"/>
              </a:spcAft>
            </a:pPr>
            <a:r>
              <a:rPr sz="1050" b="0">
                <a:solidFill>
                  <a:srgbClr val="5B6372"/>
                </a:solidFill>
                <a:latin typeface="Arial"/>
              </a:rPr>
              <a:t>Decide whether each strand is task, process, relationship or values conflict. Note where types overlap — for example a process gap (no roster-change record) feeding a relationship strain.</a:t>
            </a:r>
          </a:p>
        </p:txBody>
      </p:sp>
      <p:sp>
        <p:nvSpPr>
          <p:cNvPr id="22" name="Rectangle 21"/>
          <p:cNvSpPr/>
          <p:nvPr/>
        </p:nvSpPr>
        <p:spPr>
          <a:xfrm>
            <a:off x="777240" y="5177790"/>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77790"/>
            <a:ext cx="73152" cy="10584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552411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552411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5177790"/>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Map the escalation stage</a:t>
            </a:r>
          </a:p>
          <a:p>
            <a:pPr algn="l">
              <a:spcAft>
                <a:spcPts val="100"/>
              </a:spcAft>
            </a:pPr>
            <a:r>
              <a:rPr sz="1050" b="0">
                <a:solidFill>
                  <a:srgbClr val="5B6372"/>
                </a:solidFill>
                <a:latin typeface="Arial"/>
              </a:rPr>
              <a:t>Place the signals on the latent, perceived, felt and manifest stages and name the trigger that moved the conflict forward. Mark missing evidence as unknown.</a:t>
            </a:r>
          </a:p>
        </p:txBody>
      </p:sp>
      <p:sp>
        <p:nvSpPr>
          <p:cNvPr id="27" name="Rectangle 26"/>
          <p:cNvSpPr/>
          <p:nvPr/>
        </p:nvSpPr>
        <p:spPr>
          <a:xfrm>
            <a:off x="6208776"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08776"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73368"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6848856"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Assess organisational impact</a:t>
            </a:r>
          </a:p>
          <a:p>
            <a:pPr algn="l">
              <a:spcAft>
                <a:spcPts val="100"/>
              </a:spcAft>
            </a:pPr>
            <a:r>
              <a:rPr sz="1050" b="0">
                <a:solidFill>
                  <a:srgbClr val="5B6372"/>
                </a:solidFill>
                <a:latin typeface="Arial"/>
              </a:rPr>
              <a:t>Rate the current impact on people, work, customers and risk as low, medium or high, with one sentence of evidence for each rating.</a:t>
            </a:r>
          </a:p>
        </p:txBody>
      </p:sp>
      <p:sp>
        <p:nvSpPr>
          <p:cNvPr id="32" name="Rectangle 31"/>
          <p:cNvSpPr/>
          <p:nvPr/>
        </p:nvSpPr>
        <p:spPr>
          <a:xfrm>
            <a:off x="6208776"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Screen immediate risk</a:t>
            </a:r>
          </a:p>
          <a:p>
            <a:pPr algn="l">
              <a:spcAft>
                <a:spcPts val="100"/>
              </a:spcAft>
            </a:pPr>
            <a:r>
              <a:rPr sz="1050" b="0">
                <a:solidFill>
                  <a:srgbClr val="5B6372"/>
                </a:solidFill>
                <a:latin typeface="Arial"/>
              </a:rPr>
              <a:t>Check for safety threats, harassment, discrimination, retaliation or serious misconduct. If any is present, stop informal handling and follow policy.</a:t>
            </a:r>
          </a:p>
        </p:txBody>
      </p:sp>
      <p:sp>
        <p:nvSpPr>
          <p:cNvPr id="37" name="Rectangle 36"/>
          <p:cNvSpPr/>
          <p:nvPr/>
        </p:nvSpPr>
        <p:spPr>
          <a:xfrm>
            <a:off x="6208776"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Select the first response</a:t>
            </a:r>
          </a:p>
          <a:p>
            <a:pPr algn="l">
              <a:spcAft>
                <a:spcPts val="100"/>
              </a:spcAft>
            </a:pPr>
            <a:r>
              <a:rPr sz="1050" b="0">
                <a:solidFill>
                  <a:srgbClr val="5B6372"/>
                </a:solidFill>
                <a:latin typeface="Arial"/>
              </a:rPr>
              <a:t>Choose the least intrusive safe response — monitor, clarify separately, structured conversation, facilitation or formal escalation — and name the owner and deadline.</a:t>
            </a:r>
          </a:p>
        </p:txBody>
      </p:sp>
      <p:sp>
        <p:nvSpPr>
          <p:cNvPr id="42" name="Rectangle 41"/>
          <p:cNvSpPr/>
          <p:nvPr/>
        </p:nvSpPr>
        <p:spPr>
          <a:xfrm>
            <a:off x="6208776" y="5177790"/>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5177790"/>
            <a:ext cx="73152" cy="10584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73368" y="552411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552411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8</a:t>
            </a:r>
          </a:p>
        </p:txBody>
      </p:sp>
      <p:sp>
        <p:nvSpPr>
          <p:cNvPr id="46" name="TextBox 45"/>
          <p:cNvSpPr txBox="1"/>
          <p:nvPr/>
        </p:nvSpPr>
        <p:spPr>
          <a:xfrm>
            <a:off x="6848856" y="5177790"/>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Set the escalation boundary and brief</a:t>
            </a:r>
          </a:p>
          <a:p>
            <a:pPr algn="l">
              <a:spcAft>
                <a:spcPts val="100"/>
              </a:spcAft>
            </a:pPr>
            <a:r>
              <a:rPr sz="1050" b="0">
                <a:solidFill>
                  <a:srgbClr val="5B6372"/>
                </a:solidFill>
                <a:latin typeface="Arial"/>
              </a:rPr>
              <a:t>Write the trigger that would move the matter to HR or the grievance channel, then prepare a 60-second briefing that explains the decision without diagnosing anyone's personality.</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Debrief — Conflict Signal Triage at LionCity Retail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The triage separates facts from assumptions, classifies type and stage with evidence, screens policy risk and selects a proportionate next action.</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details are observable facts, reported claims and interpretations?</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conflict types are present, and which one is driving the others?</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indicators suggest latent, perceived, felt or manifest conflict?</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would make informal clarification unsafe or inappropriate?</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Everything looks like 'attitude'</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Ask: what would a camera have recorded? Rewrite each label as behaviour, context and frequency.</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Group jumps to a joint meeting</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Re-run the risk screen. A joint meeting is unsafe if retaliation or power concerns are unresolved.</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Stage is unclear</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Stages overlap. Record the earliest stage with evidence and the trigger that would move it forward.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01 · ACTIVITY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Conflict Style Choice Clinic at BrightWorks Digital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2</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Case study · decision clinic  ·  25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BrightWorks Digital's product and sales teams disagree about releasing a feature before security testing is complete. Sales has promised a launch date to a key client; Product says the unresolved issue may expose customer data.</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Evaluate the five Thomas-Kilmann modes against situational criteria and justify a staged conflict-management approach.</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 Thomas-Kilmann style decision matrix with a staged response rationale (today and the next two weeks).</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Style decision matrix · situational criteria scorecard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BrightWorks Digital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The CEO wants a decision today, but both teams must work closely together for the next six months. Learners assess all five conflict-handling modes and recommend a staged response rather than declaring one style universally best.</a:t>
            </a:r>
          </a:p>
        </p:txBody>
      </p:sp>
      <p:sp>
        <p:nvSpPr>
          <p:cNvPr id="8" name="Rectangle 7"/>
          <p:cNvSpPr/>
          <p:nvPr/>
        </p:nvSpPr>
        <p:spPr>
          <a:xfrm>
            <a:off x="777240"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HO</a:t>
            </a:r>
          </a:p>
        </p:txBody>
      </p:sp>
      <p:sp>
        <p:nvSpPr>
          <p:cNvPr id="12" name="TextBox 11"/>
          <p:cNvSpPr txBox="1"/>
          <p:nvPr/>
        </p:nvSpPr>
        <p:spPr>
          <a:xfrm>
            <a:off x="1645920"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Head of Sales</a:t>
            </a:r>
          </a:p>
        </p:txBody>
      </p:sp>
      <p:sp>
        <p:nvSpPr>
          <p:cNvPr id="13" name="TextBox 12"/>
          <p:cNvSpPr txBox="1"/>
          <p:nvPr/>
        </p:nvSpPr>
        <p:spPr>
          <a:xfrm>
            <a:off x="978408" y="37033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Keep the client's trust and the revenue commitment.</a:t>
            </a:r>
          </a:p>
        </p:txBody>
      </p:sp>
      <p:sp>
        <p:nvSpPr>
          <p:cNvPr id="15" name="TextBox 14"/>
          <p:cNvSpPr txBox="1"/>
          <p:nvPr/>
        </p:nvSpPr>
        <p:spPr>
          <a:xfrm>
            <a:off x="978408" y="46177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Under pressure from the account manager; open to a phased release if the client is informed early.</a:t>
            </a:r>
          </a:p>
        </p:txBody>
      </p:sp>
      <p:sp>
        <p:nvSpPr>
          <p:cNvPr id="17" name="Rectangle 16"/>
          <p:cNvSpPr/>
          <p:nvPr/>
        </p:nvSpPr>
        <p:spPr>
          <a:xfrm>
            <a:off x="4398264"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269748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99432"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PL</a:t>
            </a:r>
          </a:p>
        </p:txBody>
      </p:sp>
      <p:sp>
        <p:nvSpPr>
          <p:cNvPr id="21" name="TextBox 20"/>
          <p:cNvSpPr txBox="1"/>
          <p:nvPr/>
        </p:nvSpPr>
        <p:spPr>
          <a:xfrm>
            <a:off x="5266944"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Product Lead</a:t>
            </a:r>
          </a:p>
        </p:txBody>
      </p:sp>
      <p:sp>
        <p:nvSpPr>
          <p:cNvPr id="22" name="TextBox 21"/>
          <p:cNvSpPr txBox="1"/>
          <p:nvPr/>
        </p:nvSpPr>
        <p:spPr>
          <a:xfrm>
            <a:off x="4599432" y="37033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4599432"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Protect customer data and product quality.</a:t>
            </a:r>
          </a:p>
        </p:txBody>
      </p:sp>
      <p:sp>
        <p:nvSpPr>
          <p:cNvPr id="24" name="TextBox 23"/>
          <p:cNvSpPr txBox="1"/>
          <p:nvPr/>
        </p:nvSpPr>
        <p:spPr>
          <a:xfrm>
            <a:off x="4599432" y="46177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4599432"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Will not release with an unresolved data-exposure risk; can scope a reduced feature set.</a:t>
            </a:r>
          </a:p>
        </p:txBody>
      </p:sp>
      <p:sp>
        <p:nvSpPr>
          <p:cNvPr id="26" name="Rectangle 25"/>
          <p:cNvSpPr/>
          <p:nvPr/>
        </p:nvSpPr>
        <p:spPr>
          <a:xfrm>
            <a:off x="8019288"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69748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0456"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045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F</a:t>
            </a:r>
          </a:p>
        </p:txBody>
      </p:sp>
      <p:sp>
        <p:nvSpPr>
          <p:cNvPr id="30" name="TextBox 29"/>
          <p:cNvSpPr txBox="1"/>
          <p:nvPr/>
        </p:nvSpPr>
        <p:spPr>
          <a:xfrm>
            <a:off x="8887968"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Facilitator · COO</a:t>
            </a:r>
          </a:p>
        </p:txBody>
      </p:sp>
      <p:sp>
        <p:nvSpPr>
          <p:cNvPr id="31" name="TextBox 30"/>
          <p:cNvSpPr txBox="1"/>
          <p:nvPr/>
        </p:nvSpPr>
        <p:spPr>
          <a:xfrm>
            <a:off x="8220456" y="37033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8220456"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Reach a defensible decision and preserve collaboration.</a:t>
            </a:r>
          </a:p>
        </p:txBody>
      </p:sp>
      <p:sp>
        <p:nvSpPr>
          <p:cNvPr id="33" name="TextBox 32"/>
          <p:cNvSpPr txBox="1"/>
          <p:nvPr/>
        </p:nvSpPr>
        <p:spPr>
          <a:xfrm>
            <a:off x="8220456" y="46177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8220456"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Has authority to decide today; must ensure both teams' expertise is heard.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2 Runs — 25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Frame the issue and shared interests</a:t>
            </a:r>
          </a:p>
        </p:txBody>
      </p:sp>
      <p:sp>
        <p:nvSpPr>
          <p:cNvPr id="12" name="TextBox 11"/>
          <p:cNvSpPr txBox="1"/>
          <p:nvPr/>
        </p:nvSpPr>
        <p:spPr>
          <a:xfrm>
            <a:off x="8686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cxnSp>
        <p:nvCxnSpPr>
          <p:cNvPr id="13" name="Connector 12"/>
          <p:cNvCxnSpPr/>
          <p:nvPr/>
        </p:nvCxnSpPr>
        <p:spPr>
          <a:xfrm>
            <a:off x="228447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Rate situational criteria</a:t>
            </a:r>
          </a:p>
        </p:txBody>
      </p:sp>
      <p:sp>
        <p:nvSpPr>
          <p:cNvPr id="19" name="TextBox 18"/>
          <p:cNvSpPr txBox="1"/>
          <p:nvPr/>
        </p:nvSpPr>
        <p:spPr>
          <a:xfrm>
            <a:off x="270510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20" name="Connector 19"/>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Benefits and risks of the five modes</a:t>
            </a:r>
          </a:p>
        </p:txBody>
      </p:sp>
      <p:sp>
        <p:nvSpPr>
          <p:cNvPr id="26" name="TextBox 25"/>
          <p:cNvSpPr txBox="1"/>
          <p:nvPr/>
        </p:nvSpPr>
        <p:spPr>
          <a:xfrm>
            <a:off x="454152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cxnSp>
        <p:nvCxnSpPr>
          <p:cNvPr id="27" name="Connector 26"/>
          <p:cNvCxnSpPr/>
          <p:nvPr/>
        </p:nvCxnSpPr>
        <p:spPr>
          <a:xfrm>
            <a:off x="595731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Non-negotiables and authority</a:t>
            </a:r>
          </a:p>
        </p:txBody>
      </p:sp>
      <p:sp>
        <p:nvSpPr>
          <p:cNvPr id="33" name="TextBox 32"/>
          <p:cNvSpPr txBox="1"/>
          <p:nvPr/>
        </p:nvSpPr>
        <p:spPr>
          <a:xfrm>
            <a:off x="637794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cxnSp>
        <p:nvCxnSpPr>
          <p:cNvPr id="34" name="Connector 33"/>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Immediate and follow-on modes</a:t>
            </a:r>
          </a:p>
        </p:txBody>
      </p:sp>
      <p:sp>
        <p:nvSpPr>
          <p:cNvPr id="40" name="TextBox 39"/>
          <p:cNvSpPr txBox="1"/>
          <p:nvPr/>
        </p:nvSpPr>
        <p:spPr>
          <a:xfrm>
            <a:off x="821436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41" name="Connector 40"/>
          <p:cNvCxnSpPr/>
          <p:nvPr/>
        </p:nvCxnSpPr>
        <p:spPr>
          <a:xfrm>
            <a:off x="963015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Stress test and gallery comparison</a:t>
            </a:r>
          </a:p>
        </p:txBody>
      </p:sp>
      <p:sp>
        <p:nvSpPr>
          <p:cNvPr id="47" name="TextBox 46"/>
          <p:cNvSpPr txBox="1"/>
          <p:nvPr/>
        </p:nvSpPr>
        <p:spPr>
          <a:xfrm>
            <a:off x="100507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Evaluate the five Thomas-Kilmann modes against situational criteria and justify a staged conflict-management approach.</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Frame the issue</a:t>
            </a:r>
          </a:p>
          <a:p>
            <a:pPr algn="l">
              <a:spcAft>
                <a:spcPts val="100"/>
              </a:spcAft>
            </a:pPr>
            <a:r>
              <a:rPr sz="1050" b="0">
                <a:solidFill>
                  <a:srgbClr val="5B6372"/>
                </a:solidFill>
                <a:latin typeface="Arial"/>
              </a:rPr>
              <a:t>State the decision in one neutral sentence and list the shared interests: client trust, product value, data security and continued collaboration.</a:t>
            </a:r>
          </a:p>
        </p:txBody>
      </p:sp>
      <p:sp>
        <p:nvSpPr>
          <p:cNvPr id="12" name="Rectangle 11"/>
          <p:cNvSpPr/>
          <p:nvPr/>
        </p:nvSpPr>
        <p:spPr>
          <a:xfrm>
            <a:off x="777240"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Rate the situational criteria</a:t>
            </a:r>
          </a:p>
          <a:p>
            <a:pPr algn="l">
              <a:spcAft>
                <a:spcPts val="100"/>
              </a:spcAft>
            </a:pPr>
            <a:r>
              <a:rPr sz="1050" b="0">
                <a:solidFill>
                  <a:srgbClr val="5B6372"/>
                </a:solidFill>
                <a:latin typeface="Arial"/>
              </a:rPr>
              <a:t>Score safety, stakes, relationship importance, power and voice, time pressure and decision authority as low, medium or high, citing case evidence.</a:t>
            </a:r>
          </a:p>
        </p:txBody>
      </p:sp>
      <p:sp>
        <p:nvSpPr>
          <p:cNvPr id="17" name="Rectangle 16"/>
          <p:cNvSpPr/>
          <p:nvPr/>
        </p:nvSpPr>
        <p:spPr>
          <a:xfrm>
            <a:off x="777240"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Review the five modes</a:t>
            </a:r>
          </a:p>
          <a:p>
            <a:pPr algn="l">
              <a:spcAft>
                <a:spcPts val="100"/>
              </a:spcAft>
            </a:pPr>
            <a:r>
              <a:rPr sz="1050" b="0">
                <a:solidFill>
                  <a:srgbClr val="5B6372"/>
                </a:solidFill>
                <a:latin typeface="Arial"/>
              </a:rPr>
              <a:t>For competing, collaborating, compromising, avoiding and accommodating, write one potential benefit and one risk in this case.</a:t>
            </a:r>
          </a:p>
        </p:txBody>
      </p:sp>
      <p:sp>
        <p:nvSpPr>
          <p:cNvPr id="22" name="Rectangle 21"/>
          <p:cNvSpPr/>
          <p:nvPr/>
        </p:nvSpPr>
        <p:spPr>
          <a:xfrm>
            <a:off x="777240" y="5177790"/>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77790"/>
            <a:ext cx="73152" cy="10584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552411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552411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5177790"/>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Identify non-negotiables</a:t>
            </a:r>
          </a:p>
          <a:p>
            <a:pPr algn="l">
              <a:spcAft>
                <a:spcPts val="100"/>
              </a:spcAft>
            </a:pPr>
            <a:r>
              <a:rPr sz="1050" b="0">
                <a:solidFill>
                  <a:srgbClr val="5B6372"/>
                </a:solidFill>
                <a:latin typeface="Arial"/>
              </a:rPr>
              <a:t>Name any legal, ethical, safety, security or policy threshold that cannot be traded for speed or harmony.</a:t>
            </a:r>
          </a:p>
        </p:txBody>
      </p:sp>
      <p:sp>
        <p:nvSpPr>
          <p:cNvPr id="27" name="Rectangle 26"/>
          <p:cNvSpPr/>
          <p:nvPr/>
        </p:nvSpPr>
        <p:spPr>
          <a:xfrm>
            <a:off x="6208776"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08776"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73368"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6848856"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Choose the immediate mode</a:t>
            </a:r>
          </a:p>
          <a:p>
            <a:pPr algn="l">
              <a:spcAft>
                <a:spcPts val="100"/>
              </a:spcAft>
            </a:pPr>
            <a:r>
              <a:rPr sz="1050" b="0">
                <a:solidFill>
                  <a:srgbClr val="5B6372"/>
                </a:solidFill>
                <a:latin typeface="Arial"/>
              </a:rPr>
              <a:t>Select the approach for today's deadline and explain who has authority and how dissenting expertise will still be heard.</a:t>
            </a:r>
          </a:p>
        </p:txBody>
      </p:sp>
      <p:sp>
        <p:nvSpPr>
          <p:cNvPr id="32" name="Rectangle 31"/>
          <p:cNvSpPr/>
          <p:nvPr/>
        </p:nvSpPr>
        <p:spPr>
          <a:xfrm>
            <a:off x="6208776"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Choose the follow-on mode</a:t>
            </a:r>
          </a:p>
          <a:p>
            <a:pPr algn="l">
              <a:spcAft>
                <a:spcPts val="100"/>
              </a:spcAft>
            </a:pPr>
            <a:r>
              <a:rPr sz="1050" b="0">
                <a:solidFill>
                  <a:srgbClr val="5B6372"/>
                </a:solidFill>
                <a:latin typeface="Arial"/>
              </a:rPr>
              <a:t>Select the approach for the next two weeks so the urgent decision does not become the whole resolution.</a:t>
            </a:r>
          </a:p>
        </p:txBody>
      </p:sp>
      <p:sp>
        <p:nvSpPr>
          <p:cNvPr id="37" name="Rectangle 36"/>
          <p:cNvSpPr/>
          <p:nvPr/>
        </p:nvSpPr>
        <p:spPr>
          <a:xfrm>
            <a:off x="6208776"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Protect voice</a:t>
            </a:r>
          </a:p>
          <a:p>
            <a:pPr algn="l">
              <a:spcAft>
                <a:spcPts val="100"/>
              </a:spcAft>
            </a:pPr>
            <a:r>
              <a:rPr sz="1050" b="0">
                <a:solidFill>
                  <a:srgbClr val="5B6372"/>
                </a:solidFill>
                <a:latin typeface="Arial"/>
              </a:rPr>
              <a:t>Add a mechanism for technical and commercial concerns to be raised without retaliation or domination by job title.</a:t>
            </a:r>
          </a:p>
        </p:txBody>
      </p:sp>
      <p:sp>
        <p:nvSpPr>
          <p:cNvPr id="42" name="Rectangle 41"/>
          <p:cNvSpPr/>
          <p:nvPr/>
        </p:nvSpPr>
        <p:spPr>
          <a:xfrm>
            <a:off x="6208776" y="5177790"/>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5177790"/>
            <a:ext cx="73152" cy="10584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73368" y="552411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552411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8</a:t>
            </a:r>
          </a:p>
        </p:txBody>
      </p:sp>
      <p:sp>
        <p:nvSpPr>
          <p:cNvPr id="46" name="TextBox 45"/>
          <p:cNvSpPr txBox="1"/>
          <p:nvPr/>
        </p:nvSpPr>
        <p:spPr>
          <a:xfrm>
            <a:off x="6848856" y="5177790"/>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Stress-test and compare</a:t>
            </a:r>
          </a:p>
          <a:p>
            <a:pPr algn="l">
              <a:spcAft>
                <a:spcPts val="100"/>
              </a:spcAft>
            </a:pPr>
            <a:r>
              <a:rPr sz="1050" b="0">
                <a:solidFill>
                  <a:srgbClr val="5B6372"/>
                </a:solidFill>
                <a:latin typeface="Arial"/>
              </a:rPr>
              <a:t>Test the plan against 'the client refuses a delay' and 'the CEO insists on release', then compare with another group to spot where personal preference replaced situational judgement.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Debrief — Conflict Style Choice Clinic at BrightWorks Digital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The recommendation links each mode choice to evidence about safety, stakes, relationship, power, time and authority, and stages the response.</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part of the issue is non-negotiable, and who has authority to decide it?</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Where would collaborating add value after the immediate decision?</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power imbalance or voice risk must the facilitator manage?</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temporary agreement could protect the client relationship without compromising security?</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'Collaborate' for everything</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Collaboration needs time and shared goals. Ask what must be decided today and by whom.</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Security traded for speed</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Return to the non-negotiables list — a data-exposure risk is not a bargaining chip.</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No follow-on plan</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Add a second stage: who meets, when, and how the relationship cost of today's decision is repaired.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01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Diagnose the conflict before you choose the style.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Type and stage tell you what is happening; situational criteria tell you which mode fits.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Conflict &amp; Management Styles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Activity 1 · LionCity Retail</a:t>
            </a:r>
          </a:p>
          <a:p>
            <a:pPr algn="l">
              <a:spcAft>
                <a:spcPts val="300"/>
              </a:spcAft>
            </a:pPr>
            <a:r>
              <a:rPr sz="1100" b="0">
                <a:solidFill>
                  <a:srgbClr val="5B6372"/>
                </a:solidFill>
                <a:latin typeface="Arial"/>
              </a:rPr>
              <a:t>You can now: classify the conflict type and escalation stage from early warning signs, assess organisational impact and decide a safe first response.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Activity 2 · BrightWorks Digital</a:t>
            </a:r>
          </a:p>
          <a:p>
            <a:pPr algn="l">
              <a:spcAft>
                <a:spcPts val="300"/>
              </a:spcAft>
            </a:pPr>
            <a:r>
              <a:rPr sz="1100" b="0">
                <a:solidFill>
                  <a:srgbClr val="5B6372"/>
                </a:solidFill>
                <a:latin typeface="Arial"/>
              </a:rPr>
              <a:t>You can now: evaluate the five Thomas-Kilmann modes against situational criteria and justify a staged conflict-management approach.</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100" b="0">
                <a:solidFill>
                  <a:srgbClr val="5B6372"/>
                </a:solidFill>
                <a:latin typeface="Arial"/>
              </a:rPr>
              <a:t>Analyse workplace conflict types, escalation stages, and management styles to select appropriate conflict resolution approaches for organisational settings.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  ·  LO2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Communication Techniques for Diffusing Tensions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Active listening · Empathy · Reframing · Neutral language · Non-verbal cues · Self-regulation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advClick="1">
    <p:push dir="l"/>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KEY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Communication &amp; De-escalation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Active listening</a:t>
            </a:r>
          </a:p>
          <a:p>
            <a:pPr algn="l">
              <a:spcAft>
                <a:spcPts val="300"/>
              </a:spcAft>
            </a:pPr>
            <a:r>
              <a:rPr sz="1100" b="0">
                <a:solidFill>
                  <a:srgbClr val="5B6372"/>
                </a:solidFill>
                <a:latin typeface="Arial"/>
              </a:rPr>
              <a:t>Attend, ask open questions, paraphrase, reflect emotion and summarise — understanding is demonstrated, not assumed.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Empathy is not agreement</a:t>
            </a:r>
          </a:p>
          <a:p>
            <a:pPr algn="l">
              <a:spcAft>
                <a:spcPts val="300"/>
              </a:spcAft>
            </a:pPr>
            <a:r>
              <a:rPr sz="1100" b="0">
                <a:solidFill>
                  <a:srgbClr val="5B6372"/>
                </a:solidFill>
                <a:latin typeface="Arial"/>
              </a:rPr>
              <a:t>Validating a person's experience acknowledges it as real for them without deciding that every claim is correct.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Perspective-taking</a:t>
            </a:r>
          </a:p>
          <a:p>
            <a:pPr algn="l">
              <a:spcAft>
                <a:spcPts val="300"/>
              </a:spcAft>
            </a:pPr>
            <a:r>
              <a:rPr sz="1100" b="0">
                <a:solidFill>
                  <a:srgbClr val="5B6372"/>
                </a:solidFill>
                <a:latin typeface="Arial"/>
              </a:rPr>
              <a:t>Ask what the other person sees, fears and needs; it surfaces interests that a rebuttal would bury.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Reframing</a:t>
            </a:r>
          </a:p>
          <a:p>
            <a:pPr algn="l">
              <a:spcAft>
                <a:spcPts val="300"/>
              </a:spcAft>
            </a:pPr>
            <a:r>
              <a:rPr sz="1100" b="0">
                <a:solidFill>
                  <a:srgbClr val="5B6372"/>
                </a:solidFill>
                <a:latin typeface="Arial"/>
              </a:rPr>
              <a:t>Translate blame and labels into observable behaviour, impact, underlying interest and a future-focused request.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Non-verbal signals</a:t>
            </a:r>
          </a:p>
          <a:p>
            <a:pPr algn="l">
              <a:spcAft>
                <a:spcPts val="300"/>
              </a:spcAft>
            </a:pPr>
            <a:r>
              <a:rPr sz="1100" b="0">
                <a:solidFill>
                  <a:srgbClr val="5B6372"/>
                </a:solidFill>
                <a:latin typeface="Arial"/>
              </a:rPr>
              <a:t>Tone, pace, posture, eye contact, proximity and silence carry most of the emotional message — align them with your words.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Regulation first</a:t>
            </a:r>
          </a:p>
          <a:p>
            <a:pPr algn="l">
              <a:spcAft>
                <a:spcPts val="300"/>
              </a:spcAft>
            </a:pPr>
            <a:r>
              <a:rPr sz="1100" b="0">
                <a:solidFill>
                  <a:srgbClr val="5B6372"/>
                </a:solidFill>
                <a:latin typeface="Arial"/>
              </a:rPr>
              <a:t>Notice your own triggers, slow the pace and pause where safe — a flooded brain cannot problem-solve.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ACTIVE LISTENING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Active Listening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Attend</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Posture, eyes, silence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Ask open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What, how, walk me through</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Paraphrase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Facts in your own words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Reflect emotion</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 it tentatively</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Summarise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Interests and next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CHECK, DON'T ASSUME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Each loop ends with a check — 'Have I got that right?' Understanding is something you demonstrate, not something you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QUESTIONING &amp; PARAPHRASING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Questions That Open vs Questions That Close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Closing / accusatory</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Open / exploratory</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 it works</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Why did you ignore the procedure?</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Walk me through the handoff from your side.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Invites an account, not a defence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Who started this?</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What happened just before the argument?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Explores sequence, not blame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Don't you think Priya overreacted?</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What impact did this have on your work?</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Neutral — no leading premise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Can you prove you are right?</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What would a workable week look like for you?</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Moves to interests and future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02 · EMPATHY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Empathy and Perspective-Taking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Notice emotional cues</a:t>
            </a:r>
          </a:p>
          <a:p>
            <a:pPr algn="l">
              <a:spcAft>
                <a:spcPts val="300"/>
              </a:spcAft>
            </a:pPr>
            <a:r>
              <a:rPr sz="1200" b="0">
                <a:solidFill>
                  <a:srgbClr val="5B6372"/>
                </a:solidFill>
                <a:latin typeface="Arial"/>
              </a:rPr>
              <a:t>Pace, volume, word choice and what is not said signal the emotion behind the words.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Validate, don't verdict</a:t>
            </a:r>
          </a:p>
          <a:p>
            <a:pPr algn="l">
              <a:spcAft>
                <a:spcPts val="300"/>
              </a:spcAft>
            </a:pPr>
            <a:r>
              <a:rPr sz="1200" b="0">
                <a:solidFill>
                  <a:srgbClr val="5B6372"/>
                </a:solidFill>
                <a:latin typeface="Arial"/>
              </a:rPr>
              <a:t>'That sounds frustrating' acknowledges experience without agreeing with every claim.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Take their perspective</a:t>
            </a:r>
          </a:p>
          <a:p>
            <a:pPr algn="l">
              <a:spcAft>
                <a:spcPts val="300"/>
              </a:spcAft>
            </a:pPr>
            <a:r>
              <a:rPr sz="1200" b="0">
                <a:solidFill>
                  <a:srgbClr val="5B6372"/>
                </a:solidFill>
                <a:latin typeface="Arial"/>
              </a:rPr>
              <a:t>Ask: what do they see, fear and need? Write it in their words before your own.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Check your own story</a:t>
            </a:r>
          </a:p>
          <a:p>
            <a:pPr algn="l">
              <a:spcAft>
                <a:spcPts val="300"/>
              </a:spcAft>
            </a:pPr>
            <a:r>
              <a:rPr sz="1200" b="0">
                <a:solidFill>
                  <a:srgbClr val="5B6372"/>
                </a:solidFill>
                <a:latin typeface="Arial"/>
              </a:rPr>
              <a:t>Separate what you observed from the motive you assumed.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REFRAMING &amp; NEUTRAL LANGUAGE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Reframing Blame into Interests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Escalating statement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Neutral reframe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Interest surfaced</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He keeps changing priorities without warning.</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Priorities changed late without notice to the pickers.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Predictability and safe planning</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Her team hides delays.</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Picking delays become visible only late in the day.</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Early warning to protect customers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Taylor shoots down everything I say.</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You need to finish presenting before critique starts.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Fair hearing for ideas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This always happens.</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This has happened three times this month.</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pattern worth fixing</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Separate the person from the problem: describe the behaviour and its impact, never the character.</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02 · NON-VERBAL SIGNALS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Non-Verbal Communication in Conflict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Posture</a:t>
            </a:r>
          </a:p>
          <a:p>
            <a:pPr algn="l">
              <a:spcAft>
                <a:spcPts val="300"/>
              </a:spcAft>
            </a:pPr>
            <a:r>
              <a:rPr sz="1100" b="0">
                <a:solidFill>
                  <a:srgbClr val="5B6372"/>
                </a:solidFill>
                <a:latin typeface="Arial"/>
              </a:rPr>
              <a:t>Open, seated, angled slightly — not squared off or towering.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Eye contact</a:t>
            </a:r>
          </a:p>
          <a:p>
            <a:pPr algn="l">
              <a:spcAft>
                <a:spcPts val="300"/>
              </a:spcAft>
            </a:pPr>
            <a:r>
              <a:rPr sz="1100" b="0">
                <a:solidFill>
                  <a:srgbClr val="5B6372"/>
                </a:solidFill>
                <a:latin typeface="Arial"/>
              </a:rPr>
              <a:t>Steady but soft; culturally sensitive, never a stare-down.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Tone and pace</a:t>
            </a:r>
          </a:p>
          <a:p>
            <a:pPr algn="l">
              <a:spcAft>
                <a:spcPts val="300"/>
              </a:spcAft>
            </a:pPr>
            <a:r>
              <a:rPr sz="1100" b="0">
                <a:solidFill>
                  <a:srgbClr val="5B6372"/>
                </a:solidFill>
                <a:latin typeface="Arial"/>
              </a:rPr>
              <a:t>Lower and slower than theirs pulls the conversation down.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Space</a:t>
            </a:r>
          </a:p>
          <a:p>
            <a:pPr algn="l">
              <a:spcAft>
                <a:spcPts val="300"/>
              </a:spcAft>
            </a:pPr>
            <a:r>
              <a:rPr sz="1100" b="0">
                <a:solidFill>
                  <a:srgbClr val="5B6372"/>
                </a:solidFill>
                <a:latin typeface="Arial"/>
              </a:rPr>
              <a:t>Respect personal distance; sit side-by-side on shared documents.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Face and hands</a:t>
            </a:r>
          </a:p>
          <a:p>
            <a:pPr algn="l">
              <a:spcAft>
                <a:spcPts val="300"/>
              </a:spcAft>
            </a:pPr>
            <a:r>
              <a:rPr sz="1100" b="0">
                <a:solidFill>
                  <a:srgbClr val="5B6372"/>
                </a:solidFill>
                <a:latin typeface="Arial"/>
              </a:rPr>
              <a:t>Relaxed face, visible hands; no eye-rolling or pointing.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Silence</a:t>
            </a:r>
          </a:p>
          <a:p>
            <a:pPr algn="l">
              <a:spcAft>
                <a:spcPts val="300"/>
              </a:spcAft>
            </a:pPr>
            <a:r>
              <a:rPr sz="1100" b="0">
                <a:solidFill>
                  <a:srgbClr val="5B6372"/>
                </a:solidFill>
                <a:latin typeface="Arial"/>
              </a:rPr>
              <a:t>A pause lets emotion settle and invites the other person to continue.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SELF-REGULATION &amp; DE-ESCALATION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De-escalation Sequence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Regulate yourself</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Breathe, slow down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Acknowledge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 the emotion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Create space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Pause, sit, lower volume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Separate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Person from problem</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Agree next step</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Small and specific</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SAFETY FIRST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If there is any threat of harm, stop the conversation, protect people and follow the safety procedure — de-escalation is not a substitute.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02 · ACTIVITY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Active Listening and Reframing at HarborLink Logistics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3</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Role play · triads with observer  ·  35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At HarborLink Logistics, warehouse lead Priya raised her voice at transport planner Daniel during the morning huddle, saying he 'keeps changing dispatch priorities without warning'. Daniel replied that Priya's team 'hides picking delays until late afternoon' and walked out.</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Apply active listening, empathy, reframing and non-verbal techniques to de-escalate a tense conversation and agree a next step.</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 listening log with paraphrases, emotion reflections and reframes, plus an observer's de-escalation sheet and an agreed next step.</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Listening log · reframing table · non-verbal observation sheet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HarborLink Logistics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Operations supervisor Siew Ling meets each of them separately the same morning. The shared dashboard records timestamps but not who approved priority changes. Siew Ling's goal is not to decide who is right, but to lower the temperature, understand each person's interests and agree a calm next step.</a:t>
            </a:r>
          </a:p>
        </p:txBody>
      </p:sp>
      <p:sp>
        <p:nvSpPr>
          <p:cNvPr id="8" name="Rectangle 7"/>
          <p:cNvSpPr/>
          <p:nvPr/>
        </p:nvSpPr>
        <p:spPr>
          <a:xfrm>
            <a:off x="777240"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24871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SL</a:t>
            </a:r>
          </a:p>
        </p:txBody>
      </p:sp>
      <p:sp>
        <p:nvSpPr>
          <p:cNvPr id="12" name="TextBox 11"/>
          <p:cNvSpPr txBox="1"/>
          <p:nvPr/>
        </p:nvSpPr>
        <p:spPr>
          <a:xfrm>
            <a:off x="1645920"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Siew Ling · Operations Supervisor</a:t>
            </a:r>
          </a:p>
        </p:txBody>
      </p:sp>
      <p:sp>
        <p:nvSpPr>
          <p:cNvPr id="13" name="TextBox 12"/>
          <p:cNvSpPr txBox="1"/>
          <p:nvPr/>
        </p:nvSpPr>
        <p:spPr>
          <a:xfrm>
            <a:off x="978408" y="3703320"/>
            <a:ext cx="2084832"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Lower the temperature and understand both sides.</a:t>
            </a:r>
          </a:p>
        </p:txBody>
      </p:sp>
      <p:sp>
        <p:nvSpPr>
          <p:cNvPr id="15" name="TextBox 14"/>
          <p:cNvSpPr txBox="1"/>
          <p:nvPr/>
        </p:nvSpPr>
        <p:spPr>
          <a:xfrm>
            <a:off x="978408" y="4617720"/>
            <a:ext cx="2084832"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Listens, paraphrases, reflects emotion, reframes blame and agrees a next step — without taking sides.</a:t>
            </a:r>
          </a:p>
        </p:txBody>
      </p:sp>
      <p:sp>
        <p:nvSpPr>
          <p:cNvPr id="17" name="Rectangle 16"/>
          <p:cNvSpPr/>
          <p:nvPr/>
        </p:nvSpPr>
        <p:spPr>
          <a:xfrm>
            <a:off x="3493008"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93008" y="2697480"/>
            <a:ext cx="248716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694176"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P</a:t>
            </a:r>
          </a:p>
        </p:txBody>
      </p:sp>
      <p:sp>
        <p:nvSpPr>
          <p:cNvPr id="21" name="TextBox 20"/>
          <p:cNvSpPr txBox="1"/>
          <p:nvPr/>
        </p:nvSpPr>
        <p:spPr>
          <a:xfrm>
            <a:off x="4361688"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Priya · Warehouse Lead</a:t>
            </a:r>
          </a:p>
        </p:txBody>
      </p:sp>
      <p:sp>
        <p:nvSpPr>
          <p:cNvPr id="22" name="TextBox 21"/>
          <p:cNvSpPr txBox="1"/>
          <p:nvPr/>
        </p:nvSpPr>
        <p:spPr>
          <a:xfrm>
            <a:off x="3694176" y="3703320"/>
            <a:ext cx="2084832"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3694176"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Be taken seriously about last-minute changes.</a:t>
            </a:r>
          </a:p>
        </p:txBody>
      </p:sp>
      <p:sp>
        <p:nvSpPr>
          <p:cNvPr id="24" name="TextBox 23"/>
          <p:cNvSpPr txBox="1"/>
          <p:nvPr/>
        </p:nvSpPr>
        <p:spPr>
          <a:xfrm>
            <a:off x="3694176" y="4617720"/>
            <a:ext cx="2084832"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3694176"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Frustrated and embarrassed about raising her voice; worried about overtime and safe picking.</a:t>
            </a:r>
          </a:p>
        </p:txBody>
      </p:sp>
      <p:sp>
        <p:nvSpPr>
          <p:cNvPr id="26" name="Rectangle 25"/>
          <p:cNvSpPr/>
          <p:nvPr/>
        </p:nvSpPr>
        <p:spPr>
          <a:xfrm>
            <a:off x="6208776"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08776" y="2697480"/>
            <a:ext cx="24871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09944"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9944"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D</a:t>
            </a:r>
          </a:p>
        </p:txBody>
      </p:sp>
      <p:sp>
        <p:nvSpPr>
          <p:cNvPr id="30" name="TextBox 29"/>
          <p:cNvSpPr txBox="1"/>
          <p:nvPr/>
        </p:nvSpPr>
        <p:spPr>
          <a:xfrm>
            <a:off x="7077456"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Daniel · Transport Planner</a:t>
            </a:r>
          </a:p>
        </p:txBody>
      </p:sp>
      <p:sp>
        <p:nvSpPr>
          <p:cNvPr id="31" name="TextBox 30"/>
          <p:cNvSpPr txBox="1"/>
          <p:nvPr/>
        </p:nvSpPr>
        <p:spPr>
          <a:xfrm>
            <a:off x="6409944" y="3703320"/>
            <a:ext cx="2084832"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6409944"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Meet urgent delivery commitments.</a:t>
            </a:r>
          </a:p>
        </p:txBody>
      </p:sp>
      <p:sp>
        <p:nvSpPr>
          <p:cNvPr id="33" name="TextBox 32"/>
          <p:cNvSpPr txBox="1"/>
          <p:nvPr/>
        </p:nvSpPr>
        <p:spPr>
          <a:xfrm>
            <a:off x="6409944" y="4617720"/>
            <a:ext cx="2084832"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6409944"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Feels blamed in public; has three customer escalations this week and believes delays are hidden.</a:t>
            </a:r>
          </a:p>
        </p:txBody>
      </p:sp>
      <p:sp>
        <p:nvSpPr>
          <p:cNvPr id="35" name="Rectangle 34"/>
          <p:cNvSpPr/>
          <p:nvPr/>
        </p:nvSpPr>
        <p:spPr>
          <a:xfrm>
            <a:off x="8924544"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924544" y="2697480"/>
            <a:ext cx="248716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125712" y="2971800"/>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2571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O</a:t>
            </a:r>
          </a:p>
        </p:txBody>
      </p:sp>
      <p:sp>
        <p:nvSpPr>
          <p:cNvPr id="39" name="TextBox 38"/>
          <p:cNvSpPr txBox="1"/>
          <p:nvPr/>
        </p:nvSpPr>
        <p:spPr>
          <a:xfrm>
            <a:off x="9793224"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Observer</a:t>
            </a:r>
          </a:p>
        </p:txBody>
      </p:sp>
      <p:sp>
        <p:nvSpPr>
          <p:cNvPr id="40" name="TextBox 39"/>
          <p:cNvSpPr txBox="1"/>
          <p:nvPr/>
        </p:nvSpPr>
        <p:spPr>
          <a:xfrm>
            <a:off x="9125712" y="3703320"/>
            <a:ext cx="2084832" cy="274320"/>
          </a:xfrm>
          <a:prstGeom prst="rect">
            <a:avLst/>
          </a:prstGeom>
          <a:noFill/>
        </p:spPr>
        <p:txBody>
          <a:bodyPr wrap="square" anchor="t">
            <a:spAutoFit/>
          </a:bodyPr>
          <a:lstStyle/>
          <a:p>
            <a:pPr algn="l">
              <a:spcAft>
                <a:spcPts val="400"/>
              </a:spcAft>
            </a:pPr>
            <a:r>
              <a:rPr sz="1000" b="1">
                <a:solidFill>
                  <a:srgbClr val="F59E0B"/>
                </a:solidFill>
                <a:latin typeface="Arial"/>
              </a:rPr>
              <a:t>GOAL</a:t>
            </a:r>
          </a:p>
        </p:txBody>
      </p:sp>
      <p:sp>
        <p:nvSpPr>
          <p:cNvPr id="41" name="TextBox 40"/>
          <p:cNvSpPr txBox="1"/>
          <p:nvPr/>
        </p:nvSpPr>
        <p:spPr>
          <a:xfrm>
            <a:off x="9125712"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Give evidence-based feedback.</a:t>
            </a:r>
          </a:p>
        </p:txBody>
      </p:sp>
      <p:sp>
        <p:nvSpPr>
          <p:cNvPr id="42" name="TextBox 41"/>
          <p:cNvSpPr txBox="1"/>
          <p:nvPr/>
        </p:nvSpPr>
        <p:spPr>
          <a:xfrm>
            <a:off x="9125712" y="4617720"/>
            <a:ext cx="2084832" cy="274320"/>
          </a:xfrm>
          <a:prstGeom prst="rect">
            <a:avLst/>
          </a:prstGeom>
          <a:noFill/>
        </p:spPr>
        <p:txBody>
          <a:bodyPr wrap="square" anchor="t">
            <a:spAutoFit/>
          </a:bodyPr>
          <a:lstStyle/>
          <a:p>
            <a:pPr algn="l">
              <a:spcAft>
                <a:spcPts val="400"/>
              </a:spcAft>
            </a:pPr>
            <a:r>
              <a:rPr sz="1000" b="1">
                <a:solidFill>
                  <a:srgbClr val="F59E0B"/>
                </a:solidFill>
                <a:latin typeface="Arial"/>
              </a:rPr>
              <a:t>BRIEF</a:t>
            </a:r>
          </a:p>
        </p:txBody>
      </p:sp>
      <p:sp>
        <p:nvSpPr>
          <p:cNvPr id="43" name="TextBox 42"/>
          <p:cNvSpPr txBox="1"/>
          <p:nvPr/>
        </p:nvSpPr>
        <p:spPr>
          <a:xfrm>
            <a:off x="9125712"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Logs listening moves and non-verbal cues — tone, pace, posture, eye contact, interruptions.</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3 Runs — 35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Preparation and self-regulation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Conversation 1 — Priya</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10 min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Conversation 2 — Daniel (rotate roles)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10 min</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Reframing table and agreed next step</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Observer feedback and debrief</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Apply active listening, empathy, reframing and non-verbal techniques to de-escalate a tense conversation and agree a next step.</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7905"/>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Prepare yourself</a:t>
            </a:r>
          </a:p>
          <a:p>
            <a:pPr algn="l">
              <a:spcAft>
                <a:spcPts val="100"/>
              </a:spcAft>
            </a:pPr>
            <a:r>
              <a:rPr sz="950" b="0">
                <a:solidFill>
                  <a:srgbClr val="5B6372"/>
                </a:solidFill>
                <a:latin typeface="Arial"/>
              </a:rPr>
              <a:t>Siew Ling notes her own reaction to the incident, chooses a private seated setting, sets a 10-minute window and plans an open, relaxed posture.</a:t>
            </a:r>
          </a:p>
        </p:txBody>
      </p:sp>
      <p:sp>
        <p:nvSpPr>
          <p:cNvPr id="12" name="Rectangle 11"/>
          <p:cNvSpPr/>
          <p:nvPr/>
        </p:nvSpPr>
        <p:spPr>
          <a:xfrm>
            <a:off x="777240"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68219"/>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290047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Open neutrally</a:t>
            </a:r>
          </a:p>
          <a:p>
            <a:pPr algn="l">
              <a:spcAft>
                <a:spcPts val="100"/>
              </a:spcAft>
            </a:pPr>
            <a:r>
              <a:rPr sz="950" b="0">
                <a:solidFill>
                  <a:srgbClr val="5B6372"/>
                </a:solidFill>
                <a:latin typeface="Arial"/>
              </a:rPr>
              <a:t>State the purpose (understand what happened and agree a next step), respectful conduct and the limits of confidentiality. Avoid any verdict.</a:t>
            </a:r>
          </a:p>
        </p:txBody>
      </p:sp>
      <p:sp>
        <p:nvSpPr>
          <p:cNvPr id="17" name="Rectangle 16"/>
          <p:cNvSpPr/>
          <p:nvPr/>
        </p:nvSpPr>
        <p:spPr>
          <a:xfrm>
            <a:off x="777240"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80790"/>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3813047"/>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Invite the account</a:t>
            </a:r>
          </a:p>
          <a:p>
            <a:pPr algn="l">
              <a:spcAft>
                <a:spcPts val="100"/>
              </a:spcAft>
            </a:pPr>
            <a:r>
              <a:rPr sz="950" b="0">
                <a:solidFill>
                  <a:srgbClr val="5B6372"/>
                </a:solidFill>
                <a:latin typeface="Arial"/>
              </a:rPr>
              <a:t>Ask one open question — 'Walk me through this morning from your side' — then listen for two minutes without interrupting, using minimal encouragers.</a:t>
            </a:r>
          </a:p>
        </p:txBody>
      </p:sp>
      <p:sp>
        <p:nvSpPr>
          <p:cNvPr id="22" name="Rectangle 21"/>
          <p:cNvSpPr/>
          <p:nvPr/>
        </p:nvSpPr>
        <p:spPr>
          <a:xfrm>
            <a:off x="777240"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493361"/>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472561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Paraphrase the content</a:t>
            </a:r>
          </a:p>
          <a:p>
            <a:pPr algn="l">
              <a:spcAft>
                <a:spcPts val="100"/>
              </a:spcAft>
            </a:pPr>
            <a:r>
              <a:rPr sz="950" b="0">
                <a:solidFill>
                  <a:srgbClr val="5B6372"/>
                </a:solidFill>
                <a:latin typeface="Arial"/>
              </a:rPr>
              <a:t>Restate the facts in your own words and check: 'So the priorities changed twice after 10am and nobody told the pickers — have I got that right?'</a:t>
            </a:r>
          </a:p>
        </p:txBody>
      </p:sp>
      <p:sp>
        <p:nvSpPr>
          <p:cNvPr id="27" name="Rectangle 26"/>
          <p:cNvSpPr/>
          <p:nvPr/>
        </p:nvSpPr>
        <p:spPr>
          <a:xfrm>
            <a:off x="777240" y="5405932"/>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1832" y="5638189"/>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2" y="563818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1417320" y="5405932"/>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Reflect the emotion</a:t>
            </a:r>
          </a:p>
          <a:p>
            <a:pPr algn="l">
              <a:spcAft>
                <a:spcPts val="100"/>
              </a:spcAft>
            </a:pPr>
            <a:r>
              <a:rPr sz="950" b="0">
                <a:solidFill>
                  <a:srgbClr val="5B6372"/>
                </a:solidFill>
                <a:latin typeface="Arial"/>
              </a:rPr>
              <a:t>Name the feeling tentatively and validate it without agreeing with every claim: 'It sounds frustrating to be blamed for delays you didn't cause.'</a:t>
            </a:r>
          </a:p>
        </p:txBody>
      </p:sp>
      <p:sp>
        <p:nvSpPr>
          <p:cNvPr id="32" name="Rectangle 31"/>
          <p:cNvSpPr/>
          <p:nvPr/>
        </p:nvSpPr>
        <p:spPr>
          <a:xfrm>
            <a:off x="6208776"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1755648"/>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198790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Explore with open questions</a:t>
            </a:r>
          </a:p>
          <a:p>
            <a:pPr algn="l">
              <a:spcAft>
                <a:spcPts val="100"/>
              </a:spcAft>
            </a:pPr>
            <a:r>
              <a:rPr sz="950" b="0">
                <a:solidFill>
                  <a:srgbClr val="5B6372"/>
                </a:solidFill>
                <a:latin typeface="Arial"/>
              </a:rPr>
              <a:t>Ask about impact, needs and perspective: 'What do you need from transport to plan picking safely?' 'How might Daniel be seeing this?'</a:t>
            </a:r>
          </a:p>
        </p:txBody>
      </p:sp>
      <p:sp>
        <p:nvSpPr>
          <p:cNvPr id="37" name="Rectangle 36"/>
          <p:cNvSpPr/>
          <p:nvPr/>
        </p:nvSpPr>
        <p:spPr>
          <a:xfrm>
            <a:off x="6208776"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2668219"/>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290047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Reframe blame into interests</a:t>
            </a:r>
          </a:p>
          <a:p>
            <a:pPr algn="l">
              <a:spcAft>
                <a:spcPts val="100"/>
              </a:spcAft>
            </a:pPr>
            <a:r>
              <a:rPr sz="950" b="0">
                <a:solidFill>
                  <a:srgbClr val="5B6372"/>
                </a:solidFill>
                <a:latin typeface="Arial"/>
              </a:rPr>
              <a:t>Convert accusations into behaviour, impact, interest and request, and record each pair in the reframing table.</a:t>
            </a:r>
          </a:p>
        </p:txBody>
      </p:sp>
      <p:sp>
        <p:nvSpPr>
          <p:cNvPr id="42" name="Rectangle 41"/>
          <p:cNvSpPr/>
          <p:nvPr/>
        </p:nvSpPr>
        <p:spPr>
          <a:xfrm>
            <a:off x="6208776"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3580790"/>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73368" y="381304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8</a:t>
            </a:r>
          </a:p>
        </p:txBody>
      </p:sp>
      <p:sp>
        <p:nvSpPr>
          <p:cNvPr id="46" name="TextBox 45"/>
          <p:cNvSpPr txBox="1"/>
          <p:nvPr/>
        </p:nvSpPr>
        <p:spPr>
          <a:xfrm>
            <a:off x="6848856"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Watch and adjust non-verbal cues</a:t>
            </a:r>
          </a:p>
          <a:p>
            <a:pPr algn="l">
              <a:spcAft>
                <a:spcPts val="100"/>
              </a:spcAft>
            </a:pPr>
            <a:r>
              <a:rPr sz="950" b="0">
                <a:solidFill>
                  <a:srgbClr val="5B6372"/>
                </a:solidFill>
                <a:latin typeface="Arial"/>
              </a:rPr>
              <a:t>The observer signals if tone, pace, posture or eye contact escalate; the listener slows down, lowers volume and leaves silence.</a:t>
            </a:r>
          </a:p>
        </p:txBody>
      </p:sp>
      <p:sp>
        <p:nvSpPr>
          <p:cNvPr id="47" name="Rectangle 46"/>
          <p:cNvSpPr/>
          <p:nvPr/>
        </p:nvSpPr>
        <p:spPr>
          <a:xfrm>
            <a:off x="6208776"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08776" y="4493361"/>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373368" y="472561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3368"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9</a:t>
            </a:r>
          </a:p>
        </p:txBody>
      </p:sp>
      <p:sp>
        <p:nvSpPr>
          <p:cNvPr id="51" name="TextBox 50"/>
          <p:cNvSpPr txBox="1"/>
          <p:nvPr/>
        </p:nvSpPr>
        <p:spPr>
          <a:xfrm>
            <a:off x="6848856"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Summarise and agree a next step</a:t>
            </a:r>
          </a:p>
          <a:p>
            <a:pPr algn="l">
              <a:spcAft>
                <a:spcPts val="100"/>
              </a:spcAft>
            </a:pPr>
            <a:r>
              <a:rPr sz="950" b="0">
                <a:solidFill>
                  <a:srgbClr val="5B6372"/>
                </a:solidFill>
                <a:latin typeface="Arial"/>
              </a:rPr>
              <a:t>Summarise interests and agree one concrete next step — for example a 15-minute joint check-in with a shared change-log template.</a:t>
            </a:r>
          </a:p>
        </p:txBody>
      </p:sp>
      <p:sp>
        <p:nvSpPr>
          <p:cNvPr id="52" name="Rectangle 51"/>
          <p:cNvSpPr/>
          <p:nvPr/>
        </p:nvSpPr>
        <p:spPr>
          <a:xfrm>
            <a:off x="6208776" y="5405932"/>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08776" y="5405932"/>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373368" y="5638189"/>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73368" y="563818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10</a:t>
            </a:r>
          </a:p>
        </p:txBody>
      </p:sp>
      <p:sp>
        <p:nvSpPr>
          <p:cNvPr id="56" name="TextBox 55"/>
          <p:cNvSpPr txBox="1"/>
          <p:nvPr/>
        </p:nvSpPr>
        <p:spPr>
          <a:xfrm>
            <a:off x="6848856" y="5405932"/>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Rotate and debrief</a:t>
            </a:r>
          </a:p>
          <a:p>
            <a:pPr algn="l">
              <a:spcAft>
                <a:spcPts val="100"/>
              </a:spcAft>
            </a:pPr>
            <a:r>
              <a:rPr sz="950" b="0">
                <a:solidFill>
                  <a:srgbClr val="5B6372"/>
                </a:solidFill>
                <a:latin typeface="Arial"/>
              </a:rPr>
              <a:t>Repeat with Daniel (new listener), then the observer gives one strong move and one missed opportunity per conversation.</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Debrief — Active Listening and Reframing at HarborLink Logistics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Both conversations show accurate paraphrasing, emotion reflection, neutral reframes and calm non-verbal behaviour, ending with an agreed, specific next step.</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listening move lowered the temperature most, and why?</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How did you validate emotion without agreeing with every claim?</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reframe turned blame into a shared problem?</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non-verbal signals escalated or calmed the conversation?</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Listener starts problem-solving</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Pause. Paraphrase and reflect first — solutions offered too early sound like a verdict.</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Speaker escalates</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Lower volume and pace, acknowledge the emotion, offer a short pause; do not argue facts while flooded.</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Reframe sounds like spin</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Keep the speaker's meaning. A reframe names their real need, not a softer version of what you prefer.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02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Regulation precedes resolution.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calm, heard person can problem-solve. A flooded, defended one cannot — listen first.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Communication &amp; De-escalation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Activity 3 · HarborLink Logistics</a:t>
            </a:r>
          </a:p>
          <a:p>
            <a:pPr algn="l">
              <a:spcAft>
                <a:spcPts val="300"/>
              </a:spcAft>
            </a:pPr>
            <a:r>
              <a:rPr sz="1100" b="0">
                <a:solidFill>
                  <a:srgbClr val="5B6372"/>
                </a:solidFill>
                <a:latin typeface="Arial"/>
              </a:rPr>
              <a:t>You can now: apply active listening, empathy, reframing and non-verbal techniques to de-escalate a tense conversation and agree a next step.</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100" b="0">
                <a:solidFill>
                  <a:srgbClr val="5B6372"/>
                </a:solidFill>
                <a:latin typeface="Arial"/>
              </a:rPr>
              <a:t>Apply active listening, empathy, reframing, and non-verbal communication techniques to de-escalate and manage conflict conversations effectively.</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  ·  LO3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Negotiation and Consensus-Building Strategies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Positions · Interests · BATNA · Reservation points · ZOPA · Option generation · Resistance · Consensus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advClick="1">
    <p:push dir="l"/>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KEY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Negotiation &amp; Consensus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Positions vs interests</a:t>
            </a:r>
          </a:p>
          <a:p>
            <a:pPr algn="l">
              <a:spcAft>
                <a:spcPts val="300"/>
              </a:spcAft>
            </a:pPr>
            <a:r>
              <a:rPr sz="1100" b="0">
                <a:solidFill>
                  <a:srgbClr val="5B6372"/>
                </a:solidFill>
                <a:latin typeface="Arial"/>
              </a:rPr>
              <a:t>A position is the demand; the interest is the reason. Interests are usually more numerous and more compatible than positions.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BATNA</a:t>
            </a:r>
          </a:p>
          <a:p>
            <a:pPr algn="l">
              <a:spcAft>
                <a:spcPts val="300"/>
              </a:spcAft>
            </a:pPr>
            <a:r>
              <a:rPr sz="1100" b="0">
                <a:solidFill>
                  <a:srgbClr val="5B6372"/>
                </a:solidFill>
                <a:latin typeface="Arial"/>
              </a:rPr>
              <a:t>Your Best Alternative To a Negotiated Agreement — what you will do if talks fail. It sets your real negotiating power.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Reservation point &amp; ZOPA</a:t>
            </a:r>
          </a:p>
          <a:p>
            <a:pPr algn="l">
              <a:spcAft>
                <a:spcPts val="300"/>
              </a:spcAft>
            </a:pPr>
            <a:r>
              <a:rPr sz="1100" b="0">
                <a:solidFill>
                  <a:srgbClr val="5B6372"/>
                </a:solidFill>
                <a:latin typeface="Arial"/>
              </a:rPr>
              <a:t>The reservation point is the worst deal you would accept; the Zone of Possible Agreement is where both parties' limits overlap.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Expand before you divide</a:t>
            </a:r>
          </a:p>
          <a:p>
            <a:pPr algn="l">
              <a:spcAft>
                <a:spcPts val="300"/>
              </a:spcAft>
            </a:pPr>
            <a:r>
              <a:rPr sz="1100" b="0">
                <a:solidFill>
                  <a:srgbClr val="5B6372"/>
                </a:solidFill>
                <a:latin typeface="Arial"/>
              </a:rPr>
              <a:t>Generate several packages that trade across differing priorities before anyone evaluates or concedes.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Resistance and power</a:t>
            </a:r>
          </a:p>
          <a:p>
            <a:pPr algn="l">
              <a:spcAft>
                <a:spcPts val="300"/>
              </a:spcAft>
            </a:pPr>
            <a:r>
              <a:rPr sz="1100" b="0">
                <a:solidFill>
                  <a:srgbClr val="5B6372"/>
                </a:solidFill>
                <a:latin typeface="Arial"/>
              </a:rPr>
              <a:t>Name the impasse, return to interests and objective criteria, and protect the voice of the less powerful party.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Consensus and commitment</a:t>
            </a:r>
          </a:p>
          <a:p>
            <a:pPr algn="l">
              <a:spcAft>
                <a:spcPts val="300"/>
              </a:spcAft>
            </a:pPr>
            <a:r>
              <a:rPr sz="1100" b="0">
                <a:solidFill>
                  <a:srgbClr val="5B6372"/>
                </a:solidFill>
                <a:latin typeface="Arial"/>
              </a:rPr>
              <a:t>Test agreement explicitly, word it as specific actions, owners and dates, and secure visible commitment.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POSITIONS, INTERESTS &amp; NEEDS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Position Bargaining vs Interest-Based Negotiation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Position bargaining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Interest-based negotiation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Focus</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Argues for a fixed demand</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Explores needs and constraints beneath it</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Value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Treats every concession as a loss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Trades across differing priorities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Basis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Power, pressure, persistence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Objective criteria and evidence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Relationship</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Often damaged</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Protected for future work</a:t>
            </a:r>
          </a:p>
        </p:txBody>
      </p:sp>
      <p:sp>
        <p:nvSpPr>
          <p:cNvPr id="37" name="Rectangle 36"/>
          <p:cNvSpPr/>
          <p:nvPr/>
        </p:nvSpPr>
        <p:spPr>
          <a:xfrm>
            <a:off x="777240" y="5111496"/>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5111496"/>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Outcome</a:t>
            </a:r>
          </a:p>
        </p:txBody>
      </p:sp>
      <p:sp>
        <p:nvSpPr>
          <p:cNvPr id="39" name="Rectangle 38"/>
          <p:cNvSpPr/>
          <p:nvPr/>
        </p:nvSpPr>
        <p:spPr>
          <a:xfrm>
            <a:off x="3542202" y="5111496"/>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5111496"/>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Split the difference</a:t>
            </a:r>
          </a:p>
        </p:txBody>
      </p:sp>
      <p:sp>
        <p:nvSpPr>
          <p:cNvPr id="41" name="Rectangle 40"/>
          <p:cNvSpPr/>
          <p:nvPr/>
        </p:nvSpPr>
        <p:spPr>
          <a:xfrm>
            <a:off x="7476957" y="5111496"/>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5111496"/>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Packages that meet more interests</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NEGOTIATION ANALYTICS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BATNA, Reservation Point and ZOPA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Position</a:t>
            </a:r>
          </a:p>
          <a:p>
            <a:pPr algn="l">
              <a:spcAft>
                <a:spcPts val="300"/>
              </a:spcAft>
            </a:pPr>
            <a:r>
              <a:rPr sz="1100" b="0">
                <a:solidFill>
                  <a:srgbClr val="5B6372"/>
                </a:solidFill>
                <a:latin typeface="Arial"/>
              </a:rPr>
              <a:t>The stated demand — 'two extra nurses per session'.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Interest</a:t>
            </a:r>
          </a:p>
          <a:p>
            <a:pPr algn="l">
              <a:spcAft>
                <a:spcPts val="300"/>
              </a:spcAft>
            </a:pPr>
            <a:r>
              <a:rPr sz="1100" b="0">
                <a:solidFill>
                  <a:srgbClr val="5B6372"/>
                </a:solidFill>
                <a:latin typeface="Arial"/>
              </a:rPr>
              <a:t>The reason underneath — patient safety, staff recovery, budget.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BATNA</a:t>
            </a:r>
          </a:p>
          <a:p>
            <a:pPr algn="l">
              <a:spcAft>
                <a:spcPts val="300"/>
              </a:spcAft>
            </a:pPr>
            <a:r>
              <a:rPr sz="1100" b="0">
                <a:solidFill>
                  <a:srgbClr val="5B6372"/>
                </a:solidFill>
                <a:latin typeface="Arial"/>
              </a:rPr>
              <a:t>Best Alternative To a Negotiated Agreement — what you do if talks fail.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Reservation point</a:t>
            </a:r>
          </a:p>
          <a:p>
            <a:pPr algn="l">
              <a:spcAft>
                <a:spcPts val="300"/>
              </a:spcAft>
            </a:pPr>
            <a:r>
              <a:rPr sz="1100" b="0">
                <a:solidFill>
                  <a:srgbClr val="5B6372"/>
                </a:solidFill>
                <a:latin typeface="Arial"/>
              </a:rPr>
              <a:t>The worst deal you will accept before walking away to your BATNA.</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ZOPA</a:t>
            </a:r>
          </a:p>
          <a:p>
            <a:pPr algn="l">
              <a:spcAft>
                <a:spcPts val="300"/>
              </a:spcAft>
            </a:pPr>
            <a:r>
              <a:rPr sz="1100" b="0">
                <a:solidFill>
                  <a:srgbClr val="5B6372"/>
                </a:solidFill>
                <a:latin typeface="Arial"/>
              </a:rPr>
              <a:t>Zone of Possible Agreement — where both reservation points overlap.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Power</a:t>
            </a:r>
          </a:p>
          <a:p>
            <a:pPr algn="l">
              <a:spcAft>
                <a:spcPts val="300"/>
              </a:spcAft>
            </a:pPr>
            <a:r>
              <a:rPr sz="1100" b="0">
                <a:solidFill>
                  <a:srgbClr val="5B6372"/>
                </a:solidFill>
                <a:latin typeface="Arial"/>
              </a:rPr>
              <a:t>The stronger your BATNA, the less you need any particular deal.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WORKED EXAMPLE (ACTIVITY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Worked Example — Finding the ZOPA at CarePoint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Openings are 18 vs 36 hours — far apart. But Mei can accept 27 and Arjun can approve up to 30, so a ZOPA of 27–30 nurse-hours exists. Interests and criteria help both find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COLLABORATIVE PROBLEM-SOLVING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Interest-Based Negotiation in Five Moves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Prepare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Interests, BATNA, limits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Open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Shared problem statement</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Explore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Ask, paraphrase, criteria</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Create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Three or more packages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Close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Test, word, commit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EXPAND BEFORE YOU DIVIDE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Generate options before evaluating them — brainstorming and evaluation in the same breath kills creativity.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03 · MANAGING RESISTANCE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Overcoming Resistance, Power Imbalance and Impasse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Name the impasse</a:t>
            </a:r>
          </a:p>
          <a:p>
            <a:pPr algn="l">
              <a:spcAft>
                <a:spcPts val="300"/>
              </a:spcAft>
            </a:pPr>
            <a:r>
              <a:rPr sz="1100" b="0">
                <a:solidFill>
                  <a:srgbClr val="5B6372"/>
                </a:solidFill>
                <a:latin typeface="Arial"/>
              </a:rPr>
              <a:t>'We seem stuck on the budget — can we step back to what each of us needs?'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Return to criteria</a:t>
            </a:r>
          </a:p>
          <a:p>
            <a:pPr algn="l">
              <a:spcAft>
                <a:spcPts val="300"/>
              </a:spcAft>
            </a:pPr>
            <a:r>
              <a:rPr sz="1100" b="0">
                <a:solidFill>
                  <a:srgbClr val="5B6372"/>
                </a:solidFill>
                <a:latin typeface="Arial"/>
              </a:rPr>
              <a:t>Ask which objective standard would make an option fair to both sides.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Make it conditional</a:t>
            </a:r>
          </a:p>
          <a:p>
            <a:pPr algn="l">
              <a:spcAft>
                <a:spcPts val="300"/>
              </a:spcAft>
            </a:pPr>
            <a:r>
              <a:rPr sz="1100" b="0">
                <a:solidFill>
                  <a:srgbClr val="5B6372"/>
                </a:solidFill>
                <a:latin typeface="Arial"/>
              </a:rPr>
              <a:t>Pilot, phase or trigger-based commitments lower the risk of saying yes.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Balance power</a:t>
            </a:r>
          </a:p>
          <a:p>
            <a:pPr algn="l">
              <a:spcAft>
                <a:spcPts val="300"/>
              </a:spcAft>
            </a:pPr>
            <a:r>
              <a:rPr sz="1100" b="0">
                <a:solidFill>
                  <a:srgbClr val="5B6372"/>
                </a:solidFill>
                <a:latin typeface="Arial"/>
              </a:rPr>
              <a:t>Time-box turns, invite the quieter party, check authority on both sides.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Take a break</a:t>
            </a:r>
          </a:p>
          <a:p>
            <a:pPr algn="l">
              <a:spcAft>
                <a:spcPts val="300"/>
              </a:spcAft>
            </a:pPr>
            <a:r>
              <a:rPr sz="1100" b="0">
                <a:solidFill>
                  <a:srgbClr val="5B6372"/>
                </a:solidFill>
                <a:latin typeface="Arial"/>
              </a:rPr>
              <a:t>A short pause resets emotion; agree exactly when you will resume.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Know your BATNA</a:t>
            </a:r>
          </a:p>
          <a:p>
            <a:pPr algn="l">
              <a:spcAft>
                <a:spcPts val="300"/>
              </a:spcAft>
            </a:pPr>
            <a:r>
              <a:rPr sz="1100" b="0">
                <a:solidFill>
                  <a:srgbClr val="5B6372"/>
                </a:solidFill>
                <a:latin typeface="Arial"/>
              </a:rPr>
              <a:t>If no ZOPA exists, escalate with data rather than concede below your limit.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CONSENSUS &amp; COMMITMENT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Testing Consensus — Gradients of Agreement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the person means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to do</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1 · Endorse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 fully support this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Record commitment</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2 · Agree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 can live with it comfortably</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Record commitment</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3 · Reservations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I'll go along but have a concern</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Ask for the concern; adjust if cheap</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4 · Serious concern</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 need changes before I commit</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Return to interests and options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5 · Block</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 cannot accept this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Do not close — rework or escalate</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Word the agreement as actions, owners, dates, evidence and a review trigger — then ask each party to confirm it aloud.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TOPIC 03 · ACTIVITY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Interest-Based Negotiation at CarePoint Clinics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4</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Role play · negotiation pairs with observer  ·  40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CarePoint Clinics must cover three six-hour Saturday vaccination sessions during a seasonal surge. Nurse lead Mei wants two extra nurses at each session (36 extra nurse-hours); operations lead Arjun says the overtime ceiling permits only one (18 nurse-hours).</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Negotiate a staffing agreement using interests, BATNA, reservation points and objective criteria, overcome an impasse and test consensus.</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 negotiation canvas (positions, interests, BATNA, reservation point), an option scorecard and a consensus-tested written agreement.</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Negotiation canvas · ZOPA line · option scorecard · agreement template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CarePoint Clinics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Both need safe patient care and sustainable staffing. Each receives private interests, a BATNA and a reservation point, then negotiates a package using booking forecasts, skill coverage, overtime limits and rotation history. Midway, Arjun announces that 'head office will not approve a cent more' — the pair must work through the impasse.</a:t>
            </a:r>
          </a:p>
        </p:txBody>
      </p:sp>
      <p:sp>
        <p:nvSpPr>
          <p:cNvPr id="8" name="Rectangle 7"/>
          <p:cNvSpPr/>
          <p:nvPr/>
        </p:nvSpPr>
        <p:spPr>
          <a:xfrm>
            <a:off x="777240"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M</a:t>
            </a:r>
          </a:p>
        </p:txBody>
      </p:sp>
      <p:sp>
        <p:nvSpPr>
          <p:cNvPr id="12" name="TextBox 11"/>
          <p:cNvSpPr txBox="1"/>
          <p:nvPr/>
        </p:nvSpPr>
        <p:spPr>
          <a:xfrm>
            <a:off x="1645920"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Mei · Nurse Lead</a:t>
            </a:r>
          </a:p>
        </p:txBody>
      </p:sp>
      <p:sp>
        <p:nvSpPr>
          <p:cNvPr id="13" name="TextBox 12"/>
          <p:cNvSpPr txBox="1"/>
          <p:nvPr/>
        </p:nvSpPr>
        <p:spPr>
          <a:xfrm>
            <a:off x="978408" y="37033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Protect patient safety and staff recovery.</a:t>
            </a:r>
          </a:p>
        </p:txBody>
      </p:sp>
      <p:sp>
        <p:nvSpPr>
          <p:cNvPr id="15" name="TextBox 14"/>
          <p:cNvSpPr txBox="1"/>
          <p:nvPr/>
        </p:nvSpPr>
        <p:spPr>
          <a:xfrm>
            <a:off x="978408" y="46177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Reservation point: 27 extra nurse-hours (minimum safe coverage). BATNA: cap bookings at 75% and turn patients away. Can trade session length and skill mix, not minimum clinical coverage.</a:t>
            </a:r>
          </a:p>
        </p:txBody>
      </p:sp>
      <p:sp>
        <p:nvSpPr>
          <p:cNvPr id="17" name="Rectangle 16"/>
          <p:cNvSpPr/>
          <p:nvPr/>
        </p:nvSpPr>
        <p:spPr>
          <a:xfrm>
            <a:off x="4398264"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269748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99432"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A</a:t>
            </a:r>
          </a:p>
        </p:txBody>
      </p:sp>
      <p:sp>
        <p:nvSpPr>
          <p:cNvPr id="21" name="TextBox 20"/>
          <p:cNvSpPr txBox="1"/>
          <p:nvPr/>
        </p:nvSpPr>
        <p:spPr>
          <a:xfrm>
            <a:off x="5266944"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Arjun · Operations Lead</a:t>
            </a:r>
          </a:p>
        </p:txBody>
      </p:sp>
      <p:sp>
        <p:nvSpPr>
          <p:cNvPr id="22" name="TextBox 21"/>
          <p:cNvSpPr txBox="1"/>
          <p:nvPr/>
        </p:nvSpPr>
        <p:spPr>
          <a:xfrm>
            <a:off x="4599432" y="37033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4599432"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Stay within approved cost and service commitments.</a:t>
            </a:r>
          </a:p>
        </p:txBody>
      </p:sp>
      <p:sp>
        <p:nvSpPr>
          <p:cNvPr id="24" name="TextBox 23"/>
          <p:cNvSpPr txBox="1"/>
          <p:nvPr/>
        </p:nvSpPr>
        <p:spPr>
          <a:xfrm>
            <a:off x="4599432" y="46177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4599432"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Reservation point: 30 extra nurse-hours with evidence of demand. BATNA: hire agency nurses at about 1.6 times the cost. Can reallocate weekday hours and seek conditional approval.</a:t>
            </a:r>
          </a:p>
        </p:txBody>
      </p:sp>
      <p:sp>
        <p:nvSpPr>
          <p:cNvPr id="26" name="Rectangle 25"/>
          <p:cNvSpPr/>
          <p:nvPr/>
        </p:nvSpPr>
        <p:spPr>
          <a:xfrm>
            <a:off x="8019288"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69748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0456"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045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O</a:t>
            </a:r>
          </a:p>
        </p:txBody>
      </p:sp>
      <p:sp>
        <p:nvSpPr>
          <p:cNvPr id="30" name="TextBox 29"/>
          <p:cNvSpPr txBox="1"/>
          <p:nvPr/>
        </p:nvSpPr>
        <p:spPr>
          <a:xfrm>
            <a:off x="8887968"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Observer · Process Coach</a:t>
            </a:r>
          </a:p>
        </p:txBody>
      </p:sp>
      <p:sp>
        <p:nvSpPr>
          <p:cNvPr id="31" name="TextBox 30"/>
          <p:cNvSpPr txBox="1"/>
          <p:nvPr/>
        </p:nvSpPr>
        <p:spPr>
          <a:xfrm>
            <a:off x="8220456" y="37033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8220456"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Test fairness and process quality.</a:t>
            </a:r>
          </a:p>
        </p:txBody>
      </p:sp>
      <p:sp>
        <p:nvSpPr>
          <p:cNvPr id="33" name="TextBox 32"/>
          <p:cNvSpPr txBox="1"/>
          <p:nvPr/>
        </p:nvSpPr>
        <p:spPr>
          <a:xfrm>
            <a:off x="8220456" y="46177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8220456"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Tracks questions, paraphrases, criteria, options, impasse handling and how consensus was tested.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4 Runs — 40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Separate preparation on the canvas</a:t>
            </a:r>
          </a:p>
        </p:txBody>
      </p:sp>
      <p:sp>
        <p:nvSpPr>
          <p:cNvPr id="12" name="TextBox 11"/>
          <p:cNvSpPr txBox="1"/>
          <p:nvPr/>
        </p:nvSpPr>
        <p:spPr>
          <a:xfrm>
            <a:off x="8686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cxnSp>
        <p:nvCxnSpPr>
          <p:cNvPr id="13" name="Connector 12"/>
          <p:cNvCxnSpPr/>
          <p:nvPr/>
        </p:nvCxnSpPr>
        <p:spPr>
          <a:xfrm>
            <a:off x="228447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Shared problem and interests</a:t>
            </a:r>
          </a:p>
        </p:txBody>
      </p:sp>
      <p:sp>
        <p:nvSpPr>
          <p:cNvPr id="19" name="TextBox 18"/>
          <p:cNvSpPr txBox="1"/>
          <p:nvPr/>
        </p:nvSpPr>
        <p:spPr>
          <a:xfrm>
            <a:off x="270510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7 min</a:t>
            </a:r>
          </a:p>
        </p:txBody>
      </p:sp>
      <p:cxnSp>
        <p:nvCxnSpPr>
          <p:cNvPr id="20" name="Connector 19"/>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Objective criteria and ZOPA</a:t>
            </a:r>
          </a:p>
        </p:txBody>
      </p:sp>
      <p:sp>
        <p:nvSpPr>
          <p:cNvPr id="26" name="TextBox 25"/>
          <p:cNvSpPr txBox="1"/>
          <p:nvPr/>
        </p:nvSpPr>
        <p:spPr>
          <a:xfrm>
            <a:off x="454152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cxnSp>
        <p:nvCxnSpPr>
          <p:cNvPr id="27" name="Connector 26"/>
          <p:cNvCxnSpPr/>
          <p:nvPr/>
        </p:nvCxnSpPr>
        <p:spPr>
          <a:xfrm>
            <a:off x="595731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Generate option packages</a:t>
            </a:r>
          </a:p>
        </p:txBody>
      </p:sp>
      <p:sp>
        <p:nvSpPr>
          <p:cNvPr id="33" name="TextBox 32"/>
          <p:cNvSpPr txBox="1"/>
          <p:nvPr/>
        </p:nvSpPr>
        <p:spPr>
          <a:xfrm>
            <a:off x="637794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7 min</a:t>
            </a:r>
          </a:p>
        </p:txBody>
      </p:sp>
      <p:cxnSp>
        <p:nvCxnSpPr>
          <p:cNvPr id="34" name="Connector 33"/>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Impasse, scoring and trades</a:t>
            </a:r>
          </a:p>
        </p:txBody>
      </p:sp>
      <p:sp>
        <p:nvSpPr>
          <p:cNvPr id="40" name="TextBox 39"/>
          <p:cNvSpPr txBox="1"/>
          <p:nvPr/>
        </p:nvSpPr>
        <p:spPr>
          <a:xfrm>
            <a:off x="821436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41" name="Connector 40"/>
          <p:cNvCxnSpPr/>
          <p:nvPr/>
        </p:nvCxnSpPr>
        <p:spPr>
          <a:xfrm>
            <a:off x="963015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Consensus, agreement and debrief</a:t>
            </a:r>
          </a:p>
        </p:txBody>
      </p:sp>
      <p:sp>
        <p:nvSpPr>
          <p:cNvPr id="47" name="TextBox 46"/>
          <p:cNvSpPr txBox="1"/>
          <p:nvPr/>
        </p:nvSpPr>
        <p:spPr>
          <a:xfrm>
            <a:off x="100507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9 min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Negotiate a staffing agreement using interests, BATNA, reservation points and objective criteria, overcome an impasse and test consensus.</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7905"/>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Prepare separately</a:t>
            </a:r>
          </a:p>
          <a:p>
            <a:pPr algn="l">
              <a:spcAft>
                <a:spcPts val="100"/>
              </a:spcAft>
            </a:pPr>
            <a:r>
              <a:rPr sz="950" b="0">
                <a:solidFill>
                  <a:srgbClr val="5B6372"/>
                </a:solidFill>
                <a:latin typeface="Arial"/>
              </a:rPr>
              <a:t>Each party fills in the canvas: position, underlying interests, BATNA, reservation point, evidence and what they could trade.</a:t>
            </a:r>
          </a:p>
        </p:txBody>
      </p:sp>
      <p:sp>
        <p:nvSpPr>
          <p:cNvPr id="12" name="Rectangle 11"/>
          <p:cNvSpPr/>
          <p:nvPr/>
        </p:nvSpPr>
        <p:spPr>
          <a:xfrm>
            <a:off x="777240"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68219"/>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290047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Agree a shared problem statement</a:t>
            </a:r>
          </a:p>
          <a:p>
            <a:pPr algn="l">
              <a:spcAft>
                <a:spcPts val="100"/>
              </a:spcAft>
            </a:pPr>
            <a:r>
              <a:rPr sz="950" b="0">
                <a:solidFill>
                  <a:srgbClr val="5B6372"/>
                </a:solidFill>
                <a:latin typeface="Arial"/>
              </a:rPr>
              <a:t>Convert the dispute into a joint question: 'How do we cover the surge safely within a sustainable cost?'</a:t>
            </a:r>
          </a:p>
        </p:txBody>
      </p:sp>
      <p:sp>
        <p:nvSpPr>
          <p:cNvPr id="17" name="Rectangle 16"/>
          <p:cNvSpPr/>
          <p:nvPr/>
        </p:nvSpPr>
        <p:spPr>
          <a:xfrm>
            <a:off x="777240"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80790"/>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3813047"/>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Exchange interests</a:t>
            </a:r>
          </a:p>
          <a:p>
            <a:pPr algn="l">
              <a:spcAft>
                <a:spcPts val="100"/>
              </a:spcAft>
            </a:pPr>
            <a:r>
              <a:rPr sz="950" b="0">
                <a:solidFill>
                  <a:srgbClr val="5B6372"/>
                </a:solidFill>
                <a:latin typeface="Arial"/>
              </a:rPr>
              <a:t>Each side explains interests and constraints; the other paraphrases before responding. No proposals yet.</a:t>
            </a:r>
          </a:p>
        </p:txBody>
      </p:sp>
      <p:sp>
        <p:nvSpPr>
          <p:cNvPr id="22" name="Rectangle 21"/>
          <p:cNvSpPr/>
          <p:nvPr/>
        </p:nvSpPr>
        <p:spPr>
          <a:xfrm>
            <a:off x="777240"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493361"/>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472561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Agree objective criteria</a:t>
            </a:r>
          </a:p>
          <a:p>
            <a:pPr algn="l">
              <a:spcAft>
                <a:spcPts val="100"/>
              </a:spcAft>
            </a:pPr>
            <a:r>
              <a:rPr sz="950" b="0">
                <a:solidFill>
                  <a:srgbClr val="5B6372"/>
                </a:solidFill>
                <a:latin typeface="Arial"/>
              </a:rPr>
              <a:t>Choose criteria both accept — booking forecast, minimum clinical ratio, overtime policy, cost and fair rotation.</a:t>
            </a:r>
          </a:p>
        </p:txBody>
      </p:sp>
      <p:sp>
        <p:nvSpPr>
          <p:cNvPr id="27" name="Rectangle 26"/>
          <p:cNvSpPr/>
          <p:nvPr/>
        </p:nvSpPr>
        <p:spPr>
          <a:xfrm>
            <a:off x="777240" y="5405932"/>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1832" y="5638189"/>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2" y="563818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1417320" y="5405932"/>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Locate the ZOPA</a:t>
            </a:r>
          </a:p>
          <a:p>
            <a:pPr algn="l">
              <a:spcAft>
                <a:spcPts val="100"/>
              </a:spcAft>
            </a:pPr>
            <a:r>
              <a:rPr sz="950" b="0">
                <a:solidFill>
                  <a:srgbClr val="5B6372"/>
                </a:solidFill>
                <a:latin typeface="Arial"/>
              </a:rPr>
              <a:t>Without revealing reservation points verbatim, test ranges until both see whether an overlap exists (here 27–30 nurse-hours).</a:t>
            </a:r>
          </a:p>
        </p:txBody>
      </p:sp>
      <p:sp>
        <p:nvSpPr>
          <p:cNvPr id="32" name="Rectangle 31"/>
          <p:cNvSpPr/>
          <p:nvPr/>
        </p:nvSpPr>
        <p:spPr>
          <a:xfrm>
            <a:off x="6208776"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1755648"/>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198790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Generate at least three packages</a:t>
            </a:r>
          </a:p>
          <a:p>
            <a:pPr algn="l">
              <a:spcAft>
                <a:spcPts val="100"/>
              </a:spcAft>
            </a:pPr>
            <a:r>
              <a:rPr sz="950" b="0">
                <a:solidFill>
                  <a:srgbClr val="5B6372"/>
                </a:solidFill>
                <a:latin typeface="Arial"/>
              </a:rPr>
              <a:t>Combine variables — session length, skill mix, weekday hour swaps, staggered start times, a pilot — before evaluating any of them.</a:t>
            </a:r>
          </a:p>
        </p:txBody>
      </p:sp>
      <p:sp>
        <p:nvSpPr>
          <p:cNvPr id="37" name="Rectangle 36"/>
          <p:cNvSpPr/>
          <p:nvPr/>
        </p:nvSpPr>
        <p:spPr>
          <a:xfrm>
            <a:off x="6208776"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2668219"/>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290047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Work through the impasse</a:t>
            </a:r>
          </a:p>
          <a:p>
            <a:pPr algn="l">
              <a:spcAft>
                <a:spcPts val="100"/>
              </a:spcAft>
            </a:pPr>
            <a:r>
              <a:rPr sz="950" b="0">
                <a:solidFill>
                  <a:srgbClr val="5B6372"/>
                </a:solidFill>
                <a:latin typeface="Arial"/>
              </a:rPr>
              <a:t>When Arjun's 'not a cent more' lands, name the impasse, return to interests and criteria, propose a conditional or phased package, and protect Mei's voice if power tilts.</a:t>
            </a:r>
          </a:p>
        </p:txBody>
      </p:sp>
      <p:sp>
        <p:nvSpPr>
          <p:cNvPr id="42" name="Rectangle 41"/>
          <p:cNvSpPr/>
          <p:nvPr/>
        </p:nvSpPr>
        <p:spPr>
          <a:xfrm>
            <a:off x="6208776"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3580790"/>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73368" y="381304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8</a:t>
            </a:r>
          </a:p>
        </p:txBody>
      </p:sp>
      <p:sp>
        <p:nvSpPr>
          <p:cNvPr id="46" name="TextBox 45"/>
          <p:cNvSpPr txBox="1"/>
          <p:nvPr/>
        </p:nvSpPr>
        <p:spPr>
          <a:xfrm>
            <a:off x="6848856"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Score and trade</a:t>
            </a:r>
          </a:p>
          <a:p>
            <a:pPr algn="l">
              <a:spcAft>
                <a:spcPts val="100"/>
              </a:spcAft>
            </a:pPr>
            <a:r>
              <a:rPr sz="950" b="0">
                <a:solidFill>
                  <a:srgbClr val="5B6372"/>
                </a:solidFill>
                <a:latin typeface="Arial"/>
              </a:rPr>
              <a:t>Rate each package against the agreed criteria; trade low-cost/high-value items without trading away safety or policy.</a:t>
            </a:r>
          </a:p>
        </p:txBody>
      </p:sp>
      <p:sp>
        <p:nvSpPr>
          <p:cNvPr id="47" name="Rectangle 46"/>
          <p:cNvSpPr/>
          <p:nvPr/>
        </p:nvSpPr>
        <p:spPr>
          <a:xfrm>
            <a:off x="6208776"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08776" y="4493361"/>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373368" y="472561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3368"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9</a:t>
            </a:r>
          </a:p>
        </p:txBody>
      </p:sp>
      <p:sp>
        <p:nvSpPr>
          <p:cNvPr id="51" name="TextBox 50"/>
          <p:cNvSpPr txBox="1"/>
          <p:nvPr/>
        </p:nvSpPr>
        <p:spPr>
          <a:xfrm>
            <a:off x="6848856"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Test consensus</a:t>
            </a:r>
          </a:p>
          <a:p>
            <a:pPr algn="l">
              <a:spcAft>
                <a:spcPts val="100"/>
              </a:spcAft>
            </a:pPr>
            <a:r>
              <a:rPr sz="950" b="0">
                <a:solidFill>
                  <a:srgbClr val="5B6372"/>
                </a:solidFill>
                <a:latin typeface="Arial"/>
              </a:rPr>
              <a:t>Use a gradients-of-agreement check (1 = fully endorse … 5 = cannot accept); resolve any 4–5 before closing.</a:t>
            </a:r>
          </a:p>
        </p:txBody>
      </p:sp>
      <p:sp>
        <p:nvSpPr>
          <p:cNvPr id="52" name="Rectangle 51"/>
          <p:cNvSpPr/>
          <p:nvPr/>
        </p:nvSpPr>
        <p:spPr>
          <a:xfrm>
            <a:off x="6208776" y="5405932"/>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08776" y="5405932"/>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373368" y="5638189"/>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73368" y="563818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10</a:t>
            </a:r>
          </a:p>
        </p:txBody>
      </p:sp>
      <p:sp>
        <p:nvSpPr>
          <p:cNvPr id="56" name="TextBox 55"/>
          <p:cNvSpPr txBox="1"/>
          <p:nvPr/>
        </p:nvSpPr>
        <p:spPr>
          <a:xfrm>
            <a:off x="6848856" y="5405932"/>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Word the agreement</a:t>
            </a:r>
          </a:p>
          <a:p>
            <a:pPr algn="l">
              <a:spcAft>
                <a:spcPts val="100"/>
              </a:spcAft>
            </a:pPr>
            <a:r>
              <a:rPr sz="950" b="0">
                <a:solidFill>
                  <a:srgbClr val="5B6372"/>
                </a:solidFill>
                <a:latin typeface="Arial"/>
              </a:rPr>
              <a:t>Record the allocation, actions, owners, dates, evidence, communication to staff and a review trigger; both parties confirm commitment.</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Debrief — Interest-Based Negotiation at CarePoint Clinics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The agreement sits inside the ZOPA, explains interests, criteria and trade-offs, survived an impasse and was consensus-tested with owners, dates and a review trigger.</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are each party's positions, interests, BATNA and reservation point?</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Is there a ZOPA — and what would you do if there were none?</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package trades across time, skill mix, session design and budget?</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How did you handle 'not a cent more' without escalating the conflict?</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Splitting the difference at once</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Stop. Compromise before exploring interests leaves value on the table — generate packages first.</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No overlap found</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Re-check BATNAs and add variables (timing, pilot, conditional approval); if still none, escalate with data.</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One party dominates</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Use the observer to time-box turns, paraphrase the quieter party and return to the agreed criteria.</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03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Interests are compatible more often than positions.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Ask why before you argue how much — then let objective criteria choose between packages.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Negotiation &amp; Consensus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Activity 4 · CarePoint Clinics</a:t>
            </a:r>
          </a:p>
          <a:p>
            <a:pPr algn="l">
              <a:spcAft>
                <a:spcPts val="300"/>
              </a:spcAft>
            </a:pPr>
            <a:r>
              <a:rPr sz="1100" b="0">
                <a:solidFill>
                  <a:srgbClr val="5B6372"/>
                </a:solidFill>
                <a:latin typeface="Arial"/>
              </a:rPr>
              <a:t>You can now: negotiate a staffing agreement using interests, BATNA, reservation points and objective criteria, overcome an impasse and test consensus.</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883664"/>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100" b="0">
                <a:solidFill>
                  <a:srgbClr val="5B6372"/>
                </a:solidFill>
                <a:latin typeface="Arial"/>
              </a:rPr>
              <a:t>Apply interest-based negotiation and consensus-building techniques to facilitate collaborative problem-solving and overcome resistance among conflicting parties.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  ·  LO4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Achieving Resolution and Protecting Organisational Interests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Structured resolution process · Mediation stages · Impartiality · Option evaluation · Action planning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advClick="1">
    <p:push dir="l"/>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KEY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Resolution &amp; Mediation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Structured process</a:t>
            </a:r>
          </a:p>
          <a:p>
            <a:pPr algn="l">
              <a:spcAft>
                <a:spcPts val="300"/>
              </a:spcAft>
            </a:pPr>
            <a:r>
              <a:rPr sz="1100" b="0">
                <a:solidFill>
                  <a:srgbClr val="5B6372"/>
                </a:solidFill>
                <a:latin typeface="Arial"/>
              </a:rPr>
              <a:t>Intake → issue mapping → option development → evaluation → agreement and follow-up keeps resolution fair and repeatable.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Mediator owns the process</a:t>
            </a:r>
          </a:p>
          <a:p>
            <a:pPr algn="l">
              <a:spcAft>
                <a:spcPts val="300"/>
              </a:spcAft>
            </a:pPr>
            <a:r>
              <a:rPr sz="1100" b="0">
                <a:solidFill>
                  <a:srgbClr val="5B6372"/>
                </a:solidFill>
                <a:latin typeface="Arial"/>
              </a:rPr>
              <a:t>A mediator manages fairness, voice and structure — never the outcome. Parties craft and own their agreement.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Boundary management</a:t>
            </a:r>
          </a:p>
          <a:p>
            <a:pPr algn="l">
              <a:spcAft>
                <a:spcPts val="300"/>
              </a:spcAft>
            </a:pPr>
            <a:r>
              <a:rPr sz="1100" b="0">
                <a:solidFill>
                  <a:srgbClr val="5B6372"/>
                </a:solidFill>
                <a:latin typeface="Arial"/>
              </a:rPr>
              <a:t>Check suitability, voluntariness, power and policy limits first; harassment or discrimination concerns go to the formal route.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Evaluate every option</a:t>
            </a:r>
          </a:p>
          <a:p>
            <a:pPr algn="l">
              <a:spcAft>
                <a:spcPts val="300"/>
              </a:spcAft>
            </a:pPr>
            <a:r>
              <a:rPr sz="1100" b="0">
                <a:solidFill>
                  <a:srgbClr val="5B6372"/>
                </a:solidFill>
                <a:latin typeface="Arial"/>
              </a:rPr>
              <a:t>Test options against policy fit, risk, fairness to all parties and the organisation's goals — not just the parties' comfort.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Actionable plans</a:t>
            </a:r>
          </a:p>
          <a:p>
            <a:pPr algn="l">
              <a:spcAft>
                <a:spcPts val="300"/>
              </a:spcAft>
            </a:pPr>
            <a:r>
              <a:rPr sz="1100" b="0">
                <a:solidFill>
                  <a:srgbClr val="5B6372"/>
                </a:solidFill>
                <a:latin typeface="Arial"/>
              </a:rPr>
              <a:t>Every agreement names the action, owner, date, evidence of progress and a review point or trigger.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Document proportionately</a:t>
            </a:r>
          </a:p>
          <a:p>
            <a:pPr algn="l">
              <a:spcAft>
                <a:spcPts val="300"/>
              </a:spcAft>
            </a:pPr>
            <a:r>
              <a:rPr sz="1100" b="0">
                <a:solidFill>
                  <a:srgbClr val="5B6372"/>
                </a:solidFill>
                <a:latin typeface="Arial"/>
              </a:rPr>
              <a:t>Record what is necessary, accurate and authorised; restrict access on a need-to-know basis.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STRUCTURED RESOLUTION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Structured Conflict-Resolution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Intake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Concern, risk, suitability</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Issue mapping</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Issues and interests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Option development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Generate, then combine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Evaluation</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Policy, risk, fairness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Agreement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Plan, owner, review</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REPEATABLE AND FAIR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same stages for every case make outcomes defensible — and stop the loudest party from setting the agenda.</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MEDIATION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Stages of Mediation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Cool &amp; check</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Readiness, safety, scope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Listen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Equal uninterrupted time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Explore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Impact, interests, goals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Agree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Options, reality-test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Record &amp; review</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Owners, dates, follow-up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MEDIATOR OWNS THE PROCESS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Parties own the outcome. A mediator who proposes the answer stops being neutral.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IMPARTIALITY &amp; BOUNDARIES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Impartial Facilitation and Boundary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Suitability</a:t>
            </a:r>
          </a:p>
          <a:p>
            <a:pPr algn="l">
              <a:spcAft>
                <a:spcPts val="300"/>
              </a:spcAft>
            </a:pPr>
            <a:r>
              <a:rPr sz="1100" b="0">
                <a:solidFill>
                  <a:srgbClr val="5B6372"/>
                </a:solidFill>
                <a:latin typeface="Arial"/>
              </a:rPr>
              <a:t>Voluntary, no alleged harassment, discrimination or threat, workable power balance.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Equal voice</a:t>
            </a:r>
          </a:p>
          <a:p>
            <a:pPr algn="l">
              <a:spcAft>
                <a:spcPts val="300"/>
              </a:spcAft>
            </a:pPr>
            <a:r>
              <a:rPr sz="1100" b="0">
                <a:solidFill>
                  <a:srgbClr val="5B6372"/>
                </a:solidFill>
                <a:latin typeface="Arial"/>
              </a:rPr>
              <a:t>Comparable time, questions and opportunity to respond.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Neutral language</a:t>
            </a:r>
          </a:p>
          <a:p>
            <a:pPr algn="l">
              <a:spcAft>
                <a:spcPts val="300"/>
              </a:spcAft>
            </a:pPr>
            <a:r>
              <a:rPr sz="1100" b="0">
                <a:solidFill>
                  <a:srgbClr val="5B6372"/>
                </a:solidFill>
                <a:latin typeface="Arial"/>
              </a:rPr>
              <a:t>Balanced summaries; reframes that keep both meanings.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Confidentiality limits</a:t>
            </a:r>
          </a:p>
          <a:p>
            <a:pPr algn="l">
              <a:spcAft>
                <a:spcPts val="300"/>
              </a:spcAft>
            </a:pPr>
            <a:r>
              <a:rPr sz="1100" b="0">
                <a:solidFill>
                  <a:srgbClr val="5B6372"/>
                </a:solidFill>
                <a:latin typeface="Arial"/>
              </a:rPr>
              <a:t>Explain what can and cannot be kept private — never promise total secrecy.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Authority limits</a:t>
            </a:r>
          </a:p>
          <a:p>
            <a:pPr algn="l">
              <a:spcAft>
                <a:spcPts val="300"/>
              </a:spcAft>
            </a:pPr>
            <a:r>
              <a:rPr sz="1100" b="0">
                <a:solidFill>
                  <a:srgbClr val="5B6372"/>
                </a:solidFill>
                <a:latin typeface="Arial"/>
              </a:rPr>
              <a:t>Know what the organisation can offer and what needs a decision-maker.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Stop rules</a:t>
            </a:r>
          </a:p>
          <a:p>
            <a:pPr algn="l">
              <a:spcAft>
                <a:spcPts val="300"/>
              </a:spcAft>
            </a:pPr>
            <a:r>
              <a:rPr sz="1100" b="0">
                <a:solidFill>
                  <a:srgbClr val="5B6372"/>
                </a:solidFill>
                <a:latin typeface="Arial"/>
              </a:rPr>
              <a:t>Pause or end if safety, coercion or a formal-process issue appears.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PROTECTING ORGANISATIONAL INTERESTS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Evaluating Resolution Options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Criterion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Question to ask</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Red flag</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Policy fit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Is it consistent with our policies and the law?</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Bypasses a grievance or HR process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Risk</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What could go wrong for safety, clients or reputation?</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Shifts risk onto a third party</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Fairness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Would a neutral observer see it as fair to both?</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One party carries all the change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Organisational goals</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Does it support service, quality and teamwork?</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Solves the feeling, not the work</a:t>
            </a:r>
          </a:p>
        </p:txBody>
      </p:sp>
      <p:sp>
        <p:nvSpPr>
          <p:cNvPr id="37" name="Rectangle 36"/>
          <p:cNvSpPr/>
          <p:nvPr/>
        </p:nvSpPr>
        <p:spPr>
          <a:xfrm>
            <a:off x="777240" y="5111496"/>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5111496"/>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Feasibility</a:t>
            </a:r>
          </a:p>
        </p:txBody>
      </p:sp>
      <p:sp>
        <p:nvSpPr>
          <p:cNvPr id="39" name="Rectangle 38"/>
          <p:cNvSpPr/>
          <p:nvPr/>
        </p:nvSpPr>
        <p:spPr>
          <a:xfrm>
            <a:off x="3542202" y="5111496"/>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5111496"/>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Can it be done with the time and resources we have?</a:t>
            </a:r>
          </a:p>
        </p:txBody>
      </p:sp>
      <p:sp>
        <p:nvSpPr>
          <p:cNvPr id="41" name="Rectangle 40"/>
          <p:cNvSpPr/>
          <p:nvPr/>
        </p:nvSpPr>
        <p:spPr>
          <a:xfrm>
            <a:off x="7476957" y="5111496"/>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5111496"/>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No owner, budget or date</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BOUNDARY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Mediate, or Route to the Formal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Alleged harassment,
discrimination, threat
or serious misconduct?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formal route under policy</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Protect people, preserve evidence, route to HR or the grievance channel, ensure non-retaliation. Do not 'clear the air'.</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mediation may fit</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If participation is voluntary and power is workable, mediate with ground rules and a written, reviewable agreement.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This course gives management guidance, not legal advice — apply your organisation's policy and seek professional advice for real cases.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ACCOUNTABILITY &amp; FOLLOW-UP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Action Planning, Accountability and Documentation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Specific action</a:t>
            </a:r>
          </a:p>
          <a:p>
            <a:pPr algn="l">
              <a:spcAft>
                <a:spcPts val="300"/>
              </a:spcAft>
            </a:pPr>
            <a:r>
              <a:rPr sz="1100" b="0">
                <a:solidFill>
                  <a:srgbClr val="5B6372"/>
                </a:solidFill>
                <a:latin typeface="Arial"/>
              </a:rPr>
              <a:t>An observable behaviour or change — not 'communicate better'.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Owner and date</a:t>
            </a:r>
          </a:p>
          <a:p>
            <a:pPr algn="l">
              <a:spcAft>
                <a:spcPts val="300"/>
              </a:spcAft>
            </a:pPr>
            <a:r>
              <a:rPr sz="1100" b="0">
                <a:solidFill>
                  <a:srgbClr val="5B6372"/>
                </a:solidFill>
                <a:latin typeface="Arial"/>
              </a:rPr>
              <a:t>One named owner per action and a realistic deadline.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Evidence of progress</a:t>
            </a:r>
          </a:p>
          <a:p>
            <a:pPr algn="l">
              <a:spcAft>
                <a:spcPts val="300"/>
              </a:spcAft>
            </a:pPr>
            <a:r>
              <a:rPr sz="1100" b="0">
                <a:solidFill>
                  <a:srgbClr val="5B6372"/>
                </a:solidFill>
                <a:latin typeface="Arial"/>
              </a:rPr>
              <a:t>What we will see if it is working.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Review point</a:t>
            </a:r>
          </a:p>
          <a:p>
            <a:pPr algn="l">
              <a:spcAft>
                <a:spcPts val="300"/>
              </a:spcAft>
            </a:pPr>
            <a:r>
              <a:rPr sz="1100" b="0">
                <a:solidFill>
                  <a:srgbClr val="5B6372"/>
                </a:solidFill>
                <a:latin typeface="Arial"/>
              </a:rPr>
              <a:t>A follow-up date and the trigger for re-opening.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Proportionate records</a:t>
            </a:r>
          </a:p>
          <a:p>
            <a:pPr algn="l">
              <a:spcAft>
                <a:spcPts val="300"/>
              </a:spcAft>
            </a:pPr>
            <a:r>
              <a:rPr sz="1100" b="0">
                <a:solidFill>
                  <a:srgbClr val="5B6372"/>
                </a:solidFill>
                <a:latin typeface="Arial"/>
              </a:rPr>
              <a:t>Necessary, accurate, authorised; restricted to need-to-know.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Follow-up</a:t>
            </a:r>
          </a:p>
          <a:p>
            <a:pPr algn="l">
              <a:spcAft>
                <a:spcPts val="300"/>
              </a:spcAft>
            </a:pPr>
            <a:r>
              <a:rPr sz="1100" b="0">
                <a:solidFill>
                  <a:srgbClr val="5B6372"/>
                </a:solidFill>
                <a:latin typeface="Arial"/>
              </a:rPr>
              <a:t>Check in with both parties — silence is not success.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04 · ACTIVITY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Mediated Conversation at Mosaic Creative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5</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Role play · mediation triads with observer  ·  35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At Mosaic Creative, designer Alex says reviewer Taylor undermines ideas in client-preparation meetings by interrupting with risks. Taylor says Alex dismisses feedback and presents concepts too late for proper review. Two client pitches have slipped this quarter.</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Run a structured mediation, evaluate options against policy, risk, fairness and organisational goals, and record an actionable agreement.</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 mediation record (ground rules, issue map, options, evaluation matrix) and a written action plan with owners, dates, evidence and review.</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Mediation record · option evaluation matrix · action-plan template · observer checklist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Mosaic Creative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Their manager Jordan will mediate. The shared goal is better client work without silencing critique. The issue is suitable for mediation: there is no allegation of harassment, discrimination or threat, and both parties agree to take part.</a:t>
            </a:r>
          </a:p>
        </p:txBody>
      </p:sp>
      <p:sp>
        <p:nvSpPr>
          <p:cNvPr id="8" name="Rectangle 7"/>
          <p:cNvSpPr/>
          <p:nvPr/>
        </p:nvSpPr>
        <p:spPr>
          <a:xfrm>
            <a:off x="777240"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248716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J</a:t>
            </a:r>
          </a:p>
        </p:txBody>
      </p:sp>
      <p:sp>
        <p:nvSpPr>
          <p:cNvPr id="12" name="TextBox 11"/>
          <p:cNvSpPr txBox="1"/>
          <p:nvPr/>
        </p:nvSpPr>
        <p:spPr>
          <a:xfrm>
            <a:off x="1645920"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Jordan · Mediator</a:t>
            </a:r>
          </a:p>
        </p:txBody>
      </p:sp>
      <p:sp>
        <p:nvSpPr>
          <p:cNvPr id="13" name="TextBox 12"/>
          <p:cNvSpPr txBox="1"/>
          <p:nvPr/>
        </p:nvSpPr>
        <p:spPr>
          <a:xfrm>
            <a:off x="978408" y="3703320"/>
            <a:ext cx="2084832"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Run a fair process.</a:t>
            </a:r>
          </a:p>
        </p:txBody>
      </p:sp>
      <p:sp>
        <p:nvSpPr>
          <p:cNvPr id="15" name="TextBox 14"/>
          <p:cNvSpPr txBox="1"/>
          <p:nvPr/>
        </p:nvSpPr>
        <p:spPr>
          <a:xfrm>
            <a:off x="978408" y="4617720"/>
            <a:ext cx="2084832"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Checks suitability, sets ground rules, paraphrases, reframes, reality-tests and records the agreement — never decides who is right.</a:t>
            </a:r>
          </a:p>
        </p:txBody>
      </p:sp>
      <p:sp>
        <p:nvSpPr>
          <p:cNvPr id="17" name="Rectangle 16"/>
          <p:cNvSpPr/>
          <p:nvPr/>
        </p:nvSpPr>
        <p:spPr>
          <a:xfrm>
            <a:off x="3493008"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93008" y="2697480"/>
            <a:ext cx="248716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694176"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A</a:t>
            </a:r>
          </a:p>
        </p:txBody>
      </p:sp>
      <p:sp>
        <p:nvSpPr>
          <p:cNvPr id="21" name="TextBox 20"/>
          <p:cNvSpPr txBox="1"/>
          <p:nvPr/>
        </p:nvSpPr>
        <p:spPr>
          <a:xfrm>
            <a:off x="4361688"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Alex · Designer</a:t>
            </a:r>
          </a:p>
        </p:txBody>
      </p:sp>
      <p:sp>
        <p:nvSpPr>
          <p:cNvPr id="22" name="TextBox 21"/>
          <p:cNvSpPr txBox="1"/>
          <p:nvPr/>
        </p:nvSpPr>
        <p:spPr>
          <a:xfrm>
            <a:off x="3694176" y="3703320"/>
            <a:ext cx="2084832"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3694176"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Receive fair consideration.</a:t>
            </a:r>
          </a:p>
        </p:txBody>
      </p:sp>
      <p:sp>
        <p:nvSpPr>
          <p:cNvPr id="24" name="TextBox 23"/>
          <p:cNvSpPr txBox="1"/>
          <p:nvPr/>
        </p:nvSpPr>
        <p:spPr>
          <a:xfrm>
            <a:off x="3694176" y="4617720"/>
            <a:ext cx="2084832"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3694176"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Needs time to present ideas and feedback focused on the work, not competence.</a:t>
            </a:r>
          </a:p>
        </p:txBody>
      </p:sp>
      <p:sp>
        <p:nvSpPr>
          <p:cNvPr id="26" name="Rectangle 25"/>
          <p:cNvSpPr/>
          <p:nvPr/>
        </p:nvSpPr>
        <p:spPr>
          <a:xfrm>
            <a:off x="6208776"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08776" y="2697480"/>
            <a:ext cx="248716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09944"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9944"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T</a:t>
            </a:r>
          </a:p>
        </p:txBody>
      </p:sp>
      <p:sp>
        <p:nvSpPr>
          <p:cNvPr id="30" name="TextBox 29"/>
          <p:cNvSpPr txBox="1"/>
          <p:nvPr/>
        </p:nvSpPr>
        <p:spPr>
          <a:xfrm>
            <a:off x="7077456"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Taylor · Reviewer</a:t>
            </a:r>
          </a:p>
        </p:txBody>
      </p:sp>
      <p:sp>
        <p:nvSpPr>
          <p:cNvPr id="31" name="TextBox 30"/>
          <p:cNvSpPr txBox="1"/>
          <p:nvPr/>
        </p:nvSpPr>
        <p:spPr>
          <a:xfrm>
            <a:off x="6409944" y="3703320"/>
            <a:ext cx="2084832"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6409944"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Surface risk early.</a:t>
            </a:r>
          </a:p>
        </p:txBody>
      </p:sp>
      <p:sp>
        <p:nvSpPr>
          <p:cNvPr id="33" name="TextBox 32"/>
          <p:cNvSpPr txBox="1"/>
          <p:nvPr/>
        </p:nvSpPr>
        <p:spPr>
          <a:xfrm>
            <a:off x="6409944" y="4617720"/>
            <a:ext cx="2084832"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6409944"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Needs concerns heard and evidence considered before client exposure.</a:t>
            </a:r>
          </a:p>
        </p:txBody>
      </p:sp>
      <p:sp>
        <p:nvSpPr>
          <p:cNvPr id="35" name="Rectangle 34"/>
          <p:cNvSpPr/>
          <p:nvPr/>
        </p:nvSpPr>
        <p:spPr>
          <a:xfrm>
            <a:off x="8924544" y="2697480"/>
            <a:ext cx="2487168"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924544" y="2697480"/>
            <a:ext cx="248716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125712" y="2971800"/>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2571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O</a:t>
            </a:r>
          </a:p>
        </p:txBody>
      </p:sp>
      <p:sp>
        <p:nvSpPr>
          <p:cNvPr id="39" name="TextBox 38"/>
          <p:cNvSpPr txBox="1"/>
          <p:nvPr/>
        </p:nvSpPr>
        <p:spPr>
          <a:xfrm>
            <a:off x="9793224" y="2926080"/>
            <a:ext cx="1481328" cy="685800"/>
          </a:xfrm>
          <a:prstGeom prst="rect">
            <a:avLst/>
          </a:prstGeom>
          <a:noFill/>
        </p:spPr>
        <p:txBody>
          <a:bodyPr wrap="square" anchor="ctr">
            <a:spAutoFit/>
          </a:bodyPr>
          <a:lstStyle/>
          <a:p>
            <a:pPr algn="l">
              <a:spcAft>
                <a:spcPts val="400"/>
              </a:spcAft>
            </a:pPr>
            <a:r>
              <a:rPr sz="1250" b="1">
                <a:solidFill>
                  <a:srgbClr val="161B26"/>
                </a:solidFill>
                <a:latin typeface="Arial"/>
              </a:rPr>
              <a:t>Observer</a:t>
            </a:r>
          </a:p>
        </p:txBody>
      </p:sp>
      <p:sp>
        <p:nvSpPr>
          <p:cNvPr id="40" name="TextBox 39"/>
          <p:cNvSpPr txBox="1"/>
          <p:nvPr/>
        </p:nvSpPr>
        <p:spPr>
          <a:xfrm>
            <a:off x="9125712" y="3703320"/>
            <a:ext cx="2084832" cy="274320"/>
          </a:xfrm>
          <a:prstGeom prst="rect">
            <a:avLst/>
          </a:prstGeom>
          <a:noFill/>
        </p:spPr>
        <p:txBody>
          <a:bodyPr wrap="square" anchor="t">
            <a:spAutoFit/>
          </a:bodyPr>
          <a:lstStyle/>
          <a:p>
            <a:pPr algn="l">
              <a:spcAft>
                <a:spcPts val="400"/>
              </a:spcAft>
            </a:pPr>
            <a:r>
              <a:rPr sz="1000" b="1">
                <a:solidFill>
                  <a:srgbClr val="F59E0B"/>
                </a:solidFill>
                <a:latin typeface="Arial"/>
              </a:rPr>
              <a:t>GOAL</a:t>
            </a:r>
          </a:p>
        </p:txBody>
      </p:sp>
      <p:sp>
        <p:nvSpPr>
          <p:cNvPr id="41" name="TextBox 40"/>
          <p:cNvSpPr txBox="1"/>
          <p:nvPr/>
        </p:nvSpPr>
        <p:spPr>
          <a:xfrm>
            <a:off x="9125712" y="3959352"/>
            <a:ext cx="2084832" cy="640080"/>
          </a:xfrm>
          <a:prstGeom prst="rect">
            <a:avLst/>
          </a:prstGeom>
          <a:noFill/>
        </p:spPr>
        <p:txBody>
          <a:bodyPr wrap="square" anchor="t">
            <a:spAutoFit/>
          </a:bodyPr>
          <a:lstStyle/>
          <a:p>
            <a:pPr algn="l">
              <a:spcAft>
                <a:spcPts val="400"/>
              </a:spcAft>
            </a:pPr>
            <a:r>
              <a:rPr sz="1150" b="1">
                <a:solidFill>
                  <a:srgbClr val="161B26"/>
                </a:solidFill>
                <a:latin typeface="Arial"/>
              </a:rPr>
              <a:t>Assess impartiality and structure.</a:t>
            </a:r>
          </a:p>
        </p:txBody>
      </p:sp>
      <p:sp>
        <p:nvSpPr>
          <p:cNvPr id="42" name="TextBox 41"/>
          <p:cNvSpPr txBox="1"/>
          <p:nvPr/>
        </p:nvSpPr>
        <p:spPr>
          <a:xfrm>
            <a:off x="9125712" y="4617720"/>
            <a:ext cx="2084832" cy="274320"/>
          </a:xfrm>
          <a:prstGeom prst="rect">
            <a:avLst/>
          </a:prstGeom>
          <a:noFill/>
        </p:spPr>
        <p:txBody>
          <a:bodyPr wrap="square" anchor="t">
            <a:spAutoFit/>
          </a:bodyPr>
          <a:lstStyle/>
          <a:p>
            <a:pPr algn="l">
              <a:spcAft>
                <a:spcPts val="400"/>
              </a:spcAft>
            </a:pPr>
            <a:r>
              <a:rPr sz="1000" b="1">
                <a:solidFill>
                  <a:srgbClr val="F59E0B"/>
                </a:solidFill>
                <a:latin typeface="Arial"/>
              </a:rPr>
              <a:t>BRIEF</a:t>
            </a:r>
          </a:p>
        </p:txBody>
      </p:sp>
      <p:sp>
        <p:nvSpPr>
          <p:cNvPr id="43" name="TextBox 42"/>
          <p:cNvSpPr txBox="1"/>
          <p:nvPr/>
        </p:nvSpPr>
        <p:spPr>
          <a:xfrm>
            <a:off x="9125712" y="4873752"/>
            <a:ext cx="2084832" cy="1280160"/>
          </a:xfrm>
          <a:prstGeom prst="rect">
            <a:avLst/>
          </a:prstGeom>
          <a:noFill/>
        </p:spPr>
        <p:txBody>
          <a:bodyPr wrap="square" anchor="t">
            <a:spAutoFit/>
          </a:bodyPr>
          <a:lstStyle/>
          <a:p>
            <a:pPr algn="l">
              <a:spcAft>
                <a:spcPts val="400"/>
              </a:spcAft>
            </a:pPr>
            <a:r>
              <a:rPr sz="1050" b="0">
                <a:solidFill>
                  <a:srgbClr val="5B6372"/>
                </a:solidFill>
                <a:latin typeface="Arial"/>
              </a:rPr>
              <a:t>Uses the checklist to track equal voice, neutrality and agreement quality.</a:t>
            </a:r>
          </a:p>
        </p:txBody>
      </p:sp>
      <p:sp>
        <p:nvSpPr>
          <p:cNvPr id="44" name="TextBox 4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5" name="TextBox 4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5 Runs — 35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Suitability, scope and ground rules</a:t>
            </a:r>
          </a:p>
        </p:txBody>
      </p:sp>
      <p:sp>
        <p:nvSpPr>
          <p:cNvPr id="12" name="TextBox 11"/>
          <p:cNvSpPr txBox="1"/>
          <p:nvPr/>
        </p:nvSpPr>
        <p:spPr>
          <a:xfrm>
            <a:off x="8686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13" name="Connector 12"/>
          <p:cNvCxnSpPr/>
          <p:nvPr/>
        </p:nvCxnSpPr>
        <p:spPr>
          <a:xfrm>
            <a:off x="228447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Opening accounts with paraphrase</a:t>
            </a:r>
          </a:p>
        </p:txBody>
      </p:sp>
      <p:sp>
        <p:nvSpPr>
          <p:cNvPr id="19" name="TextBox 18"/>
          <p:cNvSpPr txBox="1"/>
          <p:nvPr/>
        </p:nvSpPr>
        <p:spPr>
          <a:xfrm>
            <a:off x="270510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8 min</a:t>
            </a:r>
          </a:p>
        </p:txBody>
      </p:sp>
      <p:cxnSp>
        <p:nvCxnSpPr>
          <p:cNvPr id="20" name="Connector 19"/>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Issue and interest map</a:t>
            </a:r>
          </a:p>
        </p:txBody>
      </p:sp>
      <p:sp>
        <p:nvSpPr>
          <p:cNvPr id="26" name="TextBox 25"/>
          <p:cNvSpPr txBox="1"/>
          <p:nvPr/>
        </p:nvSpPr>
        <p:spPr>
          <a:xfrm>
            <a:off x="454152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27" name="Connector 26"/>
          <p:cNvCxnSpPr/>
          <p:nvPr/>
        </p:nvCxnSpPr>
        <p:spPr>
          <a:xfrm>
            <a:off x="595731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Option generation</a:t>
            </a:r>
          </a:p>
        </p:txBody>
      </p:sp>
      <p:sp>
        <p:nvSpPr>
          <p:cNvPr id="33" name="TextBox 32"/>
          <p:cNvSpPr txBox="1"/>
          <p:nvPr/>
        </p:nvSpPr>
        <p:spPr>
          <a:xfrm>
            <a:off x="637794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cxnSp>
        <p:nvCxnSpPr>
          <p:cNvPr id="34" name="Connector 33"/>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Option evaluation matrix</a:t>
            </a:r>
          </a:p>
        </p:txBody>
      </p:sp>
      <p:sp>
        <p:nvSpPr>
          <p:cNvPr id="40" name="TextBox 39"/>
          <p:cNvSpPr txBox="1"/>
          <p:nvPr/>
        </p:nvSpPr>
        <p:spPr>
          <a:xfrm>
            <a:off x="821436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41" name="Connector 40"/>
          <p:cNvCxnSpPr/>
          <p:nvPr/>
        </p:nvCxnSpPr>
        <p:spPr>
          <a:xfrm>
            <a:off x="963015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Action plan + observer feedback</a:t>
            </a:r>
          </a:p>
        </p:txBody>
      </p:sp>
      <p:sp>
        <p:nvSpPr>
          <p:cNvPr id="47" name="TextBox 46"/>
          <p:cNvSpPr txBox="1"/>
          <p:nvPr/>
        </p:nvSpPr>
        <p:spPr>
          <a:xfrm>
            <a:off x="100507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7 min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Run a structured mediation, evaluate options against policy, risk, fairness and organisational goals, and record an actionable agreement.</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7905"/>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Confirm suitability</a:t>
            </a:r>
          </a:p>
          <a:p>
            <a:pPr algn="l">
              <a:spcAft>
                <a:spcPts val="100"/>
              </a:spcAft>
            </a:pPr>
            <a:r>
              <a:rPr sz="950" b="0">
                <a:solidFill>
                  <a:srgbClr val="5B6372"/>
                </a:solidFill>
                <a:latin typeface="Arial"/>
              </a:rPr>
              <a:t>Jordan checks voluntary participation, readiness, power balance and that no allegation requires a formal process instead.</a:t>
            </a:r>
          </a:p>
        </p:txBody>
      </p:sp>
      <p:sp>
        <p:nvSpPr>
          <p:cNvPr id="12" name="Rectangle 11"/>
          <p:cNvSpPr/>
          <p:nvPr/>
        </p:nvSpPr>
        <p:spPr>
          <a:xfrm>
            <a:off x="777240"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68219"/>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290047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State scope and limits</a:t>
            </a:r>
          </a:p>
          <a:p>
            <a:pPr algn="l">
              <a:spcAft>
                <a:spcPts val="100"/>
              </a:spcAft>
            </a:pPr>
            <a:r>
              <a:rPr sz="950" b="0">
                <a:solidFill>
                  <a:srgbClr val="5B6372"/>
                </a:solidFill>
                <a:latin typeface="Arial"/>
              </a:rPr>
              <a:t>Explain the mediator's neutral role, respectful conduct, note-taking and the limits of confidentiality; parties confirm the issue to discuss.</a:t>
            </a:r>
          </a:p>
        </p:txBody>
      </p:sp>
      <p:sp>
        <p:nvSpPr>
          <p:cNvPr id="17" name="Rectangle 16"/>
          <p:cNvSpPr/>
          <p:nvPr/>
        </p:nvSpPr>
        <p:spPr>
          <a:xfrm>
            <a:off x="777240"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80790"/>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3813047"/>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Agree ground rules</a:t>
            </a:r>
          </a:p>
          <a:p>
            <a:pPr algn="l">
              <a:spcAft>
                <a:spcPts val="100"/>
              </a:spcAft>
            </a:pPr>
            <a:r>
              <a:rPr sz="950" b="0">
                <a:solidFill>
                  <a:srgbClr val="5B6372"/>
                </a:solidFill>
                <a:latin typeface="Arial"/>
              </a:rPr>
              <a:t>One speaker at a time, specific recent examples, no insults, permission to pause, focus on future work.</a:t>
            </a:r>
          </a:p>
        </p:txBody>
      </p:sp>
      <p:sp>
        <p:nvSpPr>
          <p:cNvPr id="22" name="Rectangle 21"/>
          <p:cNvSpPr/>
          <p:nvPr/>
        </p:nvSpPr>
        <p:spPr>
          <a:xfrm>
            <a:off x="777240"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493361"/>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472561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Hear both accounts</a:t>
            </a:r>
          </a:p>
          <a:p>
            <a:pPr algn="l">
              <a:spcAft>
                <a:spcPts val="100"/>
              </a:spcAft>
            </a:pPr>
            <a:r>
              <a:rPr sz="950" b="0">
                <a:solidFill>
                  <a:srgbClr val="5B6372"/>
                </a:solidFill>
                <a:latin typeface="Arial"/>
              </a:rPr>
              <a:t>Alex then Taylor each speak for two uninterrupted minutes; Jordan paraphrases facts, feelings and needs, and the other party checks understanding.</a:t>
            </a:r>
          </a:p>
        </p:txBody>
      </p:sp>
      <p:sp>
        <p:nvSpPr>
          <p:cNvPr id="27" name="Rectangle 26"/>
          <p:cNvSpPr/>
          <p:nvPr/>
        </p:nvSpPr>
        <p:spPr>
          <a:xfrm>
            <a:off x="777240" y="5405932"/>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1832" y="5638189"/>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2" y="563818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1417320" y="5405932"/>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Map issues and interests</a:t>
            </a:r>
          </a:p>
          <a:p>
            <a:pPr algn="l">
              <a:spcAft>
                <a:spcPts val="100"/>
              </a:spcAft>
            </a:pPr>
            <a:r>
              <a:rPr sz="950" b="0">
                <a:solidFill>
                  <a:srgbClr val="5B6372"/>
                </a:solidFill>
                <a:latin typeface="Arial"/>
              </a:rPr>
              <a:t>Jordan lists the issues neutrally (timing of reviews, how critique is given) and the interests behind each position.</a:t>
            </a:r>
          </a:p>
        </p:txBody>
      </p:sp>
      <p:sp>
        <p:nvSpPr>
          <p:cNvPr id="32" name="Rectangle 31"/>
          <p:cNvSpPr/>
          <p:nvPr/>
        </p:nvSpPr>
        <p:spPr>
          <a:xfrm>
            <a:off x="6208776"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1755648"/>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198790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Generate options</a:t>
            </a:r>
          </a:p>
          <a:p>
            <a:pPr algn="l">
              <a:spcAft>
                <a:spcPts val="100"/>
              </a:spcAft>
            </a:pPr>
            <a:r>
              <a:rPr sz="950" b="0">
                <a:solidFill>
                  <a:srgbClr val="5B6372"/>
                </a:solidFill>
                <a:latin typeface="Arial"/>
              </a:rPr>
              <a:t>Each party proposes at least two options without evaluation; Jordan adds what the organisation can support.</a:t>
            </a:r>
          </a:p>
        </p:txBody>
      </p:sp>
      <p:sp>
        <p:nvSpPr>
          <p:cNvPr id="37" name="Rectangle 36"/>
          <p:cNvSpPr/>
          <p:nvPr/>
        </p:nvSpPr>
        <p:spPr>
          <a:xfrm>
            <a:off x="6208776"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2668219"/>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290047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Evaluate options</a:t>
            </a:r>
          </a:p>
          <a:p>
            <a:pPr algn="l">
              <a:spcAft>
                <a:spcPts val="100"/>
              </a:spcAft>
            </a:pPr>
            <a:r>
              <a:rPr sz="950" b="0">
                <a:solidFill>
                  <a:srgbClr val="5B6372"/>
                </a:solidFill>
                <a:latin typeface="Arial"/>
              </a:rPr>
              <a:t>Score options against policy fit, risk to client delivery, fairness to both parties and team goals; drop or adjust any that fail.</a:t>
            </a:r>
          </a:p>
        </p:txBody>
      </p:sp>
      <p:sp>
        <p:nvSpPr>
          <p:cNvPr id="42" name="Rectangle 41"/>
          <p:cNvSpPr/>
          <p:nvPr/>
        </p:nvSpPr>
        <p:spPr>
          <a:xfrm>
            <a:off x="6208776"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3580790"/>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73368" y="381304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8</a:t>
            </a:r>
          </a:p>
        </p:txBody>
      </p:sp>
      <p:sp>
        <p:nvSpPr>
          <p:cNvPr id="46" name="TextBox 45"/>
          <p:cNvSpPr txBox="1"/>
          <p:nvPr/>
        </p:nvSpPr>
        <p:spPr>
          <a:xfrm>
            <a:off x="6848856"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Write the action plan</a:t>
            </a:r>
          </a:p>
          <a:p>
            <a:pPr algn="l">
              <a:spcAft>
                <a:spcPts val="100"/>
              </a:spcAft>
            </a:pPr>
            <a:r>
              <a:rPr sz="950" b="0">
                <a:solidFill>
                  <a:srgbClr val="5B6372"/>
                </a:solidFill>
                <a:latin typeface="Arial"/>
              </a:rPr>
              <a:t>Record the critique protocol, presentation time, language expectations, owners, dates, evidence of progress and a two-week review.</a:t>
            </a:r>
          </a:p>
        </p:txBody>
      </p:sp>
      <p:sp>
        <p:nvSpPr>
          <p:cNvPr id="47" name="Rectangle 46"/>
          <p:cNvSpPr/>
          <p:nvPr/>
        </p:nvSpPr>
        <p:spPr>
          <a:xfrm>
            <a:off x="6208776"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08776" y="4493361"/>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373368" y="472561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3368"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9</a:t>
            </a:r>
          </a:p>
        </p:txBody>
      </p:sp>
      <p:sp>
        <p:nvSpPr>
          <p:cNvPr id="51" name="TextBox 50"/>
          <p:cNvSpPr txBox="1"/>
          <p:nvPr/>
        </p:nvSpPr>
        <p:spPr>
          <a:xfrm>
            <a:off x="6848856"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Observer feedback</a:t>
            </a:r>
          </a:p>
          <a:p>
            <a:pPr algn="l">
              <a:spcAft>
                <a:spcPts val="100"/>
              </a:spcAft>
            </a:pPr>
            <a:r>
              <a:rPr sz="950" b="0">
                <a:solidFill>
                  <a:srgbClr val="5B6372"/>
                </a:solidFill>
                <a:latin typeface="Arial"/>
              </a:rPr>
              <a:t>The observer names one strong mediation move and one missed opportunity, and checks the plan is specific and balanced.</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Debrief — Mediated Conversation at Mosaic Creative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The mediation follows the structured stages, stays impartial, evaluates options against organisational criteria and ends with a balanced, observable action plan.</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opening establishes purpose, neutrality and the limits of confidentiality?</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How did Jordan stay impartial while validating both perspectives?</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option scored best against policy, risk, fairness and goals — and why?</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would make the agreement fail, and how does the plan detect it early?</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Mediator takes a side</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Return to balanced summaries; give the other party comparable time and an equivalent question.</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Options are vague</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Ask 'what will we see differently at the next review?' and add an owner and date.</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Party wants a verdict</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Restate the mediator's role: the process is shared, the decision is theirs within policy limits.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04 · ACTIVITY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Policy, Ethics and Escalation at Meridian Hospitality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6</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Case study · routing decision  ·  20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At Meridian Hospitality, employee Farah reports that colleague Leon has repeatedly made jokes about her religion in a team chat. She fears that complaining will affect her shift allocation because Leon is close to the duty manager.</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Decide when mediation is inappropriate, route a concern to the correct policy channel and protect people, evidence and confidentiality.</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An escalation decision record with the routing choice, interim protection plan, confidentiality boundary and a neutral acknowledgement message.</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Policy-routing worksheet · evidence and privacy checklist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Meridian Hospitality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A supervisor, Ravi, suggests putting both employees in a room to 'clear the air'. Learners decide the immediate response, the authorised channel, the confidentiality boundary, interim support and documentation. This activity is educational and not legal advice.</a:t>
            </a:r>
          </a:p>
        </p:txBody>
      </p:sp>
      <p:sp>
        <p:nvSpPr>
          <p:cNvPr id="8" name="Rectangle 7"/>
          <p:cNvSpPr/>
          <p:nvPr/>
        </p:nvSpPr>
        <p:spPr>
          <a:xfrm>
            <a:off x="777240"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F</a:t>
            </a:r>
          </a:p>
        </p:txBody>
      </p:sp>
      <p:sp>
        <p:nvSpPr>
          <p:cNvPr id="12" name="TextBox 11"/>
          <p:cNvSpPr txBox="1"/>
          <p:nvPr/>
        </p:nvSpPr>
        <p:spPr>
          <a:xfrm>
            <a:off x="1645920"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Farah · Reporting Employee</a:t>
            </a:r>
          </a:p>
        </p:txBody>
      </p:sp>
      <p:sp>
        <p:nvSpPr>
          <p:cNvPr id="13" name="TextBox 12"/>
          <p:cNvSpPr txBox="1"/>
          <p:nvPr/>
        </p:nvSpPr>
        <p:spPr>
          <a:xfrm>
            <a:off x="978408" y="37033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Be safe, heard and protected from retaliation.</a:t>
            </a:r>
          </a:p>
        </p:txBody>
      </p:sp>
      <p:sp>
        <p:nvSpPr>
          <p:cNvPr id="15" name="TextBox 14"/>
          <p:cNvSpPr txBox="1"/>
          <p:nvPr/>
        </p:nvSpPr>
        <p:spPr>
          <a:xfrm>
            <a:off x="978408" y="46177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Wants the conduct to stop; anxious about who will see the report.</a:t>
            </a:r>
          </a:p>
        </p:txBody>
      </p:sp>
      <p:sp>
        <p:nvSpPr>
          <p:cNvPr id="17" name="Rectangle 16"/>
          <p:cNvSpPr/>
          <p:nvPr/>
        </p:nvSpPr>
        <p:spPr>
          <a:xfrm>
            <a:off x="4398264"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269748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99432"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R</a:t>
            </a:r>
          </a:p>
        </p:txBody>
      </p:sp>
      <p:sp>
        <p:nvSpPr>
          <p:cNvPr id="21" name="TextBox 20"/>
          <p:cNvSpPr txBox="1"/>
          <p:nvPr/>
        </p:nvSpPr>
        <p:spPr>
          <a:xfrm>
            <a:off x="5266944"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Ravi · Supervisor</a:t>
            </a:r>
          </a:p>
        </p:txBody>
      </p:sp>
      <p:sp>
        <p:nvSpPr>
          <p:cNvPr id="22" name="TextBox 21"/>
          <p:cNvSpPr txBox="1"/>
          <p:nvPr/>
        </p:nvSpPr>
        <p:spPr>
          <a:xfrm>
            <a:off x="4599432" y="37033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4599432"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Respond promptly within his authority.</a:t>
            </a:r>
          </a:p>
        </p:txBody>
      </p:sp>
      <p:sp>
        <p:nvSpPr>
          <p:cNvPr id="24" name="TextBox 23"/>
          <p:cNvSpPr txBox="1"/>
          <p:nvPr/>
        </p:nvSpPr>
        <p:spPr>
          <a:xfrm>
            <a:off x="4599432" y="46177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4599432"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Must not investigate beyond competence or force a face-to-face meeting.</a:t>
            </a:r>
          </a:p>
        </p:txBody>
      </p:sp>
      <p:sp>
        <p:nvSpPr>
          <p:cNvPr id="26" name="Rectangle 25"/>
          <p:cNvSpPr/>
          <p:nvPr/>
        </p:nvSpPr>
        <p:spPr>
          <a:xfrm>
            <a:off x="8019288"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69748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0456"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045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HC</a:t>
            </a:r>
          </a:p>
        </p:txBody>
      </p:sp>
      <p:sp>
        <p:nvSpPr>
          <p:cNvPr id="30" name="TextBox 29"/>
          <p:cNvSpPr txBox="1"/>
          <p:nvPr/>
        </p:nvSpPr>
        <p:spPr>
          <a:xfrm>
            <a:off x="8887968"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HR Case Lead</a:t>
            </a:r>
          </a:p>
        </p:txBody>
      </p:sp>
      <p:sp>
        <p:nvSpPr>
          <p:cNvPr id="31" name="TextBox 30"/>
          <p:cNvSpPr txBox="1"/>
          <p:nvPr/>
        </p:nvSpPr>
        <p:spPr>
          <a:xfrm>
            <a:off x="8220456" y="37033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8220456"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Run a fair policy process.</a:t>
            </a:r>
          </a:p>
        </p:txBody>
      </p:sp>
      <p:sp>
        <p:nvSpPr>
          <p:cNvPr id="33" name="TextBox 32"/>
          <p:cNvSpPr txBox="1"/>
          <p:nvPr/>
        </p:nvSpPr>
        <p:spPr>
          <a:xfrm>
            <a:off x="8220456" y="46177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8220456"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Explains scope, privacy, support, neutral fact-finding and next updates.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6 Runs — 20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Read and risk categories</a:t>
            </a:r>
          </a:p>
        </p:txBody>
      </p:sp>
      <p:sp>
        <p:nvSpPr>
          <p:cNvPr id="12" name="TextBox 11"/>
          <p:cNvSpPr txBox="1"/>
          <p:nvPr/>
        </p:nvSpPr>
        <p:spPr>
          <a:xfrm>
            <a:off x="8686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cxnSp>
        <p:nvCxnSpPr>
          <p:cNvPr id="13" name="Connector 12"/>
          <p:cNvCxnSpPr/>
          <p:nvPr/>
        </p:nvCxnSpPr>
        <p:spPr>
          <a:xfrm>
            <a:off x="228447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Mediation suitability and route</a:t>
            </a:r>
          </a:p>
        </p:txBody>
      </p:sp>
      <p:sp>
        <p:nvSpPr>
          <p:cNvPr id="19" name="TextBox 18"/>
          <p:cNvSpPr txBox="1"/>
          <p:nvPr/>
        </p:nvSpPr>
        <p:spPr>
          <a:xfrm>
            <a:off x="270510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20" name="Connector 19"/>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Interim protection</a:t>
            </a:r>
          </a:p>
        </p:txBody>
      </p:sp>
      <p:sp>
        <p:nvSpPr>
          <p:cNvPr id="26" name="TextBox 25"/>
          <p:cNvSpPr txBox="1"/>
          <p:nvPr/>
        </p:nvSpPr>
        <p:spPr>
          <a:xfrm>
            <a:off x="454152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27" name="Connector 26"/>
          <p:cNvCxnSpPr/>
          <p:nvPr/>
        </p:nvCxnSpPr>
        <p:spPr>
          <a:xfrm>
            <a:off x="595731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Evidence and privacy</a:t>
            </a:r>
          </a:p>
        </p:txBody>
      </p:sp>
      <p:sp>
        <p:nvSpPr>
          <p:cNvPr id="33" name="TextBox 32"/>
          <p:cNvSpPr txBox="1"/>
          <p:nvPr/>
        </p:nvSpPr>
        <p:spPr>
          <a:xfrm>
            <a:off x="637794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cxnSp>
        <p:nvCxnSpPr>
          <p:cNvPr id="34" name="Connector 33"/>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Neutral reply</a:t>
            </a:r>
          </a:p>
        </p:txBody>
      </p:sp>
      <p:sp>
        <p:nvSpPr>
          <p:cNvPr id="40" name="TextBox 39"/>
          <p:cNvSpPr txBox="1"/>
          <p:nvPr/>
        </p:nvSpPr>
        <p:spPr>
          <a:xfrm>
            <a:off x="821436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41" name="Connector 40"/>
          <p:cNvCxnSpPr/>
          <p:nvPr/>
        </p:nvCxnSpPr>
        <p:spPr>
          <a:xfrm>
            <a:off x="963015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Peer check</a:t>
            </a:r>
          </a:p>
        </p:txBody>
      </p:sp>
      <p:sp>
        <p:nvSpPr>
          <p:cNvPr id="47" name="TextBox 46"/>
          <p:cNvSpPr txBox="1"/>
          <p:nvPr/>
        </p:nvSpPr>
        <p:spPr>
          <a:xfrm>
            <a:off x="100507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2 min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Decide when mediation is inappropriate, route a concern to the correct policy channel and protect people, evidence and confidentiality.</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Read without investigating</a:t>
            </a:r>
          </a:p>
          <a:p>
            <a:pPr algn="l">
              <a:spcAft>
                <a:spcPts val="100"/>
              </a:spcAft>
            </a:pPr>
            <a:r>
              <a:rPr sz="1050" b="0">
                <a:solidFill>
                  <a:srgbClr val="5B6372"/>
                </a:solidFill>
                <a:latin typeface="Arial"/>
              </a:rPr>
              <a:t>Identify only the immediate routing decision; do not try to prove or disprove the allegation.</a:t>
            </a:r>
          </a:p>
        </p:txBody>
      </p:sp>
      <p:sp>
        <p:nvSpPr>
          <p:cNvPr id="12" name="Rectangle 11"/>
          <p:cNvSpPr/>
          <p:nvPr/>
        </p:nvSpPr>
        <p:spPr>
          <a:xfrm>
            <a:off x="777240"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Identify risk categories</a:t>
            </a:r>
          </a:p>
          <a:p>
            <a:pPr algn="l">
              <a:spcAft>
                <a:spcPts val="100"/>
              </a:spcAft>
            </a:pPr>
            <a:r>
              <a:rPr sz="1050" b="0">
                <a:solidFill>
                  <a:srgbClr val="5B6372"/>
                </a:solidFill>
                <a:latin typeface="Arial"/>
              </a:rPr>
              <a:t>Mark possible harassment, discrimination, retaliation and data-protection concerns as issues to check, not findings.</a:t>
            </a:r>
          </a:p>
        </p:txBody>
      </p:sp>
      <p:sp>
        <p:nvSpPr>
          <p:cNvPr id="17" name="Rectangle 16"/>
          <p:cNvSpPr/>
          <p:nvPr/>
        </p:nvSpPr>
        <p:spPr>
          <a:xfrm>
            <a:off x="777240"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Decide mediation suitability</a:t>
            </a:r>
          </a:p>
          <a:p>
            <a:pPr algn="l">
              <a:spcAft>
                <a:spcPts val="100"/>
              </a:spcAft>
            </a:pPr>
            <a:r>
              <a:rPr sz="1050" b="0">
                <a:solidFill>
                  <a:srgbClr val="5B6372"/>
                </a:solidFill>
                <a:latin typeface="Arial"/>
              </a:rPr>
              <a:t>Explain why 'clearing the air' is not the default: alleged discriminatory conduct and a power imbalance call for the formal route.</a:t>
            </a:r>
          </a:p>
        </p:txBody>
      </p:sp>
      <p:sp>
        <p:nvSpPr>
          <p:cNvPr id="22" name="Rectangle 21"/>
          <p:cNvSpPr/>
          <p:nvPr/>
        </p:nvSpPr>
        <p:spPr>
          <a:xfrm>
            <a:off x="777240" y="5177790"/>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77790"/>
            <a:ext cx="73152" cy="10584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552411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552411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5177790"/>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Choose the route</a:t>
            </a:r>
          </a:p>
          <a:p>
            <a:pPr algn="l">
              <a:spcAft>
                <a:spcPts val="100"/>
              </a:spcAft>
            </a:pPr>
            <a:r>
              <a:rPr sz="1050" b="0">
                <a:solidFill>
                  <a:srgbClr val="5B6372"/>
                </a:solidFill>
                <a:latin typeface="Arial"/>
              </a:rPr>
              <a:t>Select the designated policy owner (HR or the grievance channel) and an alternative route because the duty manager may be conflicted.</a:t>
            </a:r>
          </a:p>
        </p:txBody>
      </p:sp>
      <p:sp>
        <p:nvSpPr>
          <p:cNvPr id="27" name="Rectangle 26"/>
          <p:cNvSpPr/>
          <p:nvPr/>
        </p:nvSpPr>
        <p:spPr>
          <a:xfrm>
            <a:off x="6208776"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08776"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73368"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6848856"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Plan interim protection</a:t>
            </a:r>
          </a:p>
          <a:p>
            <a:pPr algn="l">
              <a:spcAft>
                <a:spcPts val="100"/>
              </a:spcAft>
            </a:pPr>
            <a:r>
              <a:rPr sz="1050" b="0">
                <a:solidFill>
                  <a:srgbClr val="5B6372"/>
                </a:solidFill>
                <a:latin typeface="Arial"/>
              </a:rPr>
              <a:t>Agree proportionate support and anti-retaliation monitoring that does not penalise the reporter (for example no unfavourable roster change).</a:t>
            </a:r>
          </a:p>
        </p:txBody>
      </p:sp>
      <p:sp>
        <p:nvSpPr>
          <p:cNvPr id="32" name="Rectangle 31"/>
          <p:cNvSpPr/>
          <p:nvPr/>
        </p:nvSpPr>
        <p:spPr>
          <a:xfrm>
            <a:off x="6208776"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Protect evidence and confidentiality</a:t>
            </a:r>
          </a:p>
          <a:p>
            <a:pPr algn="l">
              <a:spcAft>
                <a:spcPts val="100"/>
              </a:spcAft>
            </a:pPr>
            <a:r>
              <a:rPr sz="1050" b="0">
                <a:solidFill>
                  <a:srgbClr val="5B6372"/>
                </a:solidFill>
                <a:latin typeface="Arial"/>
              </a:rPr>
              <a:t>Preserve the chat records, limit access to need-to-know, and never promise complete secrecy.</a:t>
            </a:r>
          </a:p>
        </p:txBody>
      </p:sp>
      <p:sp>
        <p:nvSpPr>
          <p:cNvPr id="37" name="Rectangle 36"/>
          <p:cNvSpPr/>
          <p:nvPr/>
        </p:nvSpPr>
        <p:spPr>
          <a:xfrm>
            <a:off x="6208776"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Draft the acknowledgement</a:t>
            </a:r>
          </a:p>
          <a:p>
            <a:pPr algn="l">
              <a:spcAft>
                <a:spcPts val="100"/>
              </a:spcAft>
            </a:pPr>
            <a:r>
              <a:rPr sz="1050" b="0">
                <a:solidFill>
                  <a:srgbClr val="5B6372"/>
                </a:solidFill>
                <a:latin typeface="Arial"/>
              </a:rPr>
              <a:t>Write a short neutral message: receipt, immediate step, next process step, contact person, confidentiality limit and non-retaliation expectation.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Debrief — Policy, Ethics and Escalation at Meridian Hospitality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The response routes the concern to the correct policy channel, protects safety and fairness, limits data access and defines non-retaliation follow-up.</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Why is immediate informal mediation inappropriate here?</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can Ravi promise — and not promise — about confidentiality?</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records are necessary, and who should be able to see them?</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How will you detect and prevent retaliation in the coming weeks?</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Group starts investigating</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Stop at routing. Fact-finding belongs to the impartial owner named in policy.</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Promises total secrecy</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Replace with 'shared only with those who need to know to handle it fairly'.</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Interim step penalises Farah</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Re-check: protective measures must not disadvantage the person who reported.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04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fair process protects the people and the organisation.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Check the boundary, run the stages, evaluate against policy and goals — then write it down and review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Resolution &amp; Mediation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Activity 5 · Mosaic Creative</a:t>
            </a:r>
          </a:p>
          <a:p>
            <a:pPr algn="l">
              <a:spcAft>
                <a:spcPts val="300"/>
              </a:spcAft>
            </a:pPr>
            <a:r>
              <a:rPr sz="1100" b="0">
                <a:solidFill>
                  <a:srgbClr val="5B6372"/>
                </a:solidFill>
                <a:latin typeface="Arial"/>
              </a:rPr>
              <a:t>You can now: run a structured mediation, evaluate options against policy, risk, fairness and organisational goals, and record an actionable agreement.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Activity 6 · Meridian Hospitality</a:t>
            </a:r>
          </a:p>
          <a:p>
            <a:pPr algn="l">
              <a:spcAft>
                <a:spcPts val="300"/>
              </a:spcAft>
            </a:pPr>
            <a:r>
              <a:rPr sz="1100" b="0">
                <a:solidFill>
                  <a:srgbClr val="5B6372"/>
                </a:solidFill>
                <a:latin typeface="Arial"/>
              </a:rPr>
              <a:t>You can now: decide when mediation is inappropriate, route a concern to the correct policy channel and protect people, evidence and confidentiality.</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100" b="0">
                <a:solidFill>
                  <a:srgbClr val="5B6372"/>
                </a:solidFill>
                <a:latin typeface="Arial"/>
              </a:rPr>
              <a:t>Evaluate and apply structured conflict resolution and mediation frameworks to develop actionable plans aligned with organisational goals.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  ·  LO5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Sustaining a Conflict-Resilient Organisation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Guidelines · Escalation protocols · Psychological safety · Root-cause review · Monitoring and review</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advClick="1">
    <p:push dir="l"/>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KEY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Conflict-Resilient Organisation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Written guidelines</a:t>
            </a:r>
          </a:p>
          <a:p>
            <a:pPr algn="l">
              <a:spcAft>
                <a:spcPts val="300"/>
              </a:spcAft>
            </a:pPr>
            <a:r>
              <a:rPr sz="1100" b="0">
                <a:solidFill>
                  <a:srgbClr val="5B6372"/>
                </a:solidFill>
                <a:latin typeface="Arial"/>
              </a:rPr>
              <a:t>A conflict-management guideline sets scope, roles, channels, timelines, confidentiality and non-retaliation.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Tiered escalation</a:t>
            </a:r>
          </a:p>
          <a:p>
            <a:pPr algn="l">
              <a:spcAft>
                <a:spcPts val="300"/>
              </a:spcAft>
            </a:pPr>
            <a:r>
              <a:rPr sz="1100" b="0">
                <a:solidFill>
                  <a:srgbClr val="5B6372"/>
                </a:solidFill>
                <a:latin typeface="Arial"/>
              </a:rPr>
              <a:t>Clear tiers — self-resolution, line manager, HR or neutral facilitator, formal grievance, external advice — remove guesswork.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Psychological safety</a:t>
            </a:r>
          </a:p>
          <a:p>
            <a:pPr algn="l">
              <a:spcAft>
                <a:spcPts val="300"/>
              </a:spcAft>
            </a:pPr>
            <a:r>
              <a:rPr sz="1100" b="0">
                <a:solidFill>
                  <a:srgbClr val="5B6372"/>
                </a:solidFill>
                <a:latin typeface="Arial"/>
              </a:rPr>
              <a:t>Leaders who invite dissent, respond without punishment and close the loop make early, constructive conflict possible.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Root-cause review</a:t>
            </a:r>
          </a:p>
          <a:p>
            <a:pPr algn="l">
              <a:spcAft>
                <a:spcPts val="300"/>
              </a:spcAft>
            </a:pPr>
            <a:r>
              <a:rPr sz="1100" b="0">
                <a:solidFill>
                  <a:srgbClr val="5B6372"/>
                </a:solidFill>
                <a:latin typeface="Arial"/>
              </a:rPr>
              <a:t>Recurring conflict usually signals a system cause — decision rights, handoffs, incentives or workload — not one difficult person.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Monitor balanced indicators</a:t>
            </a:r>
          </a:p>
          <a:p>
            <a:pPr algn="l">
              <a:spcAft>
                <a:spcPts val="300"/>
              </a:spcAft>
            </a:pPr>
            <a:r>
              <a:rPr sz="1100" b="0">
                <a:solidFill>
                  <a:srgbClr val="5B6372"/>
                </a:solidFill>
                <a:latin typeface="Arial"/>
              </a:rPr>
              <a:t>Track behaviour, process, work results, people experience and risk; silence is not evidence of success.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Review periodically</a:t>
            </a:r>
          </a:p>
          <a:p>
            <a:pPr algn="l">
              <a:spcAft>
                <a:spcPts val="300"/>
              </a:spcAft>
            </a:pPr>
            <a:r>
              <a:rPr sz="1100" b="0">
                <a:solidFill>
                  <a:srgbClr val="5B6372"/>
                </a:solidFill>
                <a:latin typeface="Arial"/>
              </a:rPr>
              <a:t>Schedule reviews of cases, trends and the guideline itself; update controls when the evidence changes.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WORKPLACE GUIDELINES &amp; ROLES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a Conflict-Management Guideline Contains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Purpose and scope</a:t>
            </a:r>
          </a:p>
          <a:p>
            <a:pPr algn="l">
              <a:spcAft>
                <a:spcPts val="300"/>
              </a:spcAft>
            </a:pPr>
            <a:r>
              <a:rPr sz="1100" b="0">
                <a:solidFill>
                  <a:srgbClr val="5B6372"/>
                </a:solidFill>
                <a:latin typeface="Arial"/>
              </a:rPr>
              <a:t>Which disagreements it covers and which go straight to formal policy.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Roles</a:t>
            </a:r>
          </a:p>
          <a:p>
            <a:pPr algn="l">
              <a:spcAft>
                <a:spcPts val="300"/>
              </a:spcAft>
            </a:pPr>
            <a:r>
              <a:rPr sz="1100" b="0">
                <a:solidFill>
                  <a:srgbClr val="5B6372"/>
                </a:solidFill>
                <a:latin typeface="Arial"/>
              </a:rPr>
              <a:t>Employee, line manager, HR, neutral facilitator and decision-maker.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Channels</a:t>
            </a:r>
          </a:p>
          <a:p>
            <a:pPr algn="l">
              <a:spcAft>
                <a:spcPts val="300"/>
              </a:spcAft>
            </a:pPr>
            <a:r>
              <a:rPr sz="1100" b="0">
                <a:solidFill>
                  <a:srgbClr val="5B6372"/>
                </a:solidFill>
                <a:latin typeface="Arial"/>
              </a:rPr>
              <a:t>How to raise a concern, including an alternative to the direct manager.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Timelines</a:t>
            </a:r>
          </a:p>
          <a:p>
            <a:pPr algn="l">
              <a:spcAft>
                <a:spcPts val="300"/>
              </a:spcAft>
            </a:pPr>
            <a:r>
              <a:rPr sz="1100" b="0">
                <a:solidFill>
                  <a:srgbClr val="5B6372"/>
                </a:solidFill>
                <a:latin typeface="Arial"/>
              </a:rPr>
              <a:t>Acknowledge, act and review within stated time frames.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Confidentiality</a:t>
            </a:r>
          </a:p>
          <a:p>
            <a:pPr algn="l">
              <a:spcAft>
                <a:spcPts val="300"/>
              </a:spcAft>
            </a:pPr>
            <a:r>
              <a:rPr sz="1100" b="0">
                <a:solidFill>
                  <a:srgbClr val="5B6372"/>
                </a:solidFill>
                <a:latin typeface="Arial"/>
              </a:rPr>
              <a:t>Need-to-know handling, record-keeping and data protection.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Non-retaliation</a:t>
            </a:r>
          </a:p>
          <a:p>
            <a:pPr algn="l">
              <a:spcAft>
                <a:spcPts val="300"/>
              </a:spcAft>
            </a:pPr>
            <a:r>
              <a:rPr sz="1100" b="0">
                <a:solidFill>
                  <a:srgbClr val="5B6372"/>
                </a:solidFill>
                <a:latin typeface="Arial"/>
              </a:rPr>
              <a:t>Protection for those who raise, support or take part.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05 · ESCALATION PROTOCOLS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Tiered Escalation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Self-resolution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Direct, respectful talk</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Line manager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Clarify and facilitate</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HR / neutral</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Mediation or facilitation</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Formal grievance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Impartial fact-finding</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External advice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Where applicable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SKIP TIERS WHEN SAFETY REQUIRES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Harassment, discrimination, threats or retaliation go straight to the formal tier — the protocol must say so explicitly.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LEADERSHIP &amp; CONSTRUCTIVE DIALOGUE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Leader Behaviours that Build Psychological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Invite dissent</a:t>
            </a:r>
          </a:p>
          <a:p>
            <a:pPr algn="l">
              <a:spcAft>
                <a:spcPts val="300"/>
              </a:spcAft>
            </a:pPr>
            <a:r>
              <a:rPr sz="1100" b="0">
                <a:solidFill>
                  <a:srgbClr val="5B6372"/>
                </a:solidFill>
                <a:latin typeface="Arial"/>
              </a:rPr>
              <a:t>Ask for concerns before deciding: 'What are we missing?'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Respond productively</a:t>
            </a:r>
          </a:p>
          <a:p>
            <a:pPr algn="l">
              <a:spcAft>
                <a:spcPts val="300"/>
              </a:spcAft>
            </a:pPr>
            <a:r>
              <a:rPr sz="1100" b="0">
                <a:solidFill>
                  <a:srgbClr val="5B6372"/>
                </a:solidFill>
                <a:latin typeface="Arial"/>
              </a:rPr>
              <a:t>Thank the challenger; never punish bad news.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Separate debate from decision</a:t>
            </a:r>
          </a:p>
          <a:p>
            <a:pPr algn="l">
              <a:spcAft>
                <a:spcPts val="300"/>
              </a:spcAft>
            </a:pPr>
            <a:r>
              <a:rPr sz="1100" b="0">
                <a:solidFill>
                  <a:srgbClr val="5B6372"/>
                </a:solidFill>
                <a:latin typeface="Arial"/>
              </a:rPr>
              <a:t>Debate openly, then explain who decides and why.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Clarify decision rights</a:t>
            </a:r>
          </a:p>
          <a:p>
            <a:pPr algn="l">
              <a:spcAft>
                <a:spcPts val="300"/>
              </a:spcAft>
            </a:pPr>
            <a:r>
              <a:rPr sz="1100" b="0">
                <a:solidFill>
                  <a:srgbClr val="5B6372"/>
                </a:solidFill>
                <a:latin typeface="Arial"/>
              </a:rPr>
              <a:t>Make roles, handoffs and authority explicit.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Intervene early</a:t>
            </a:r>
          </a:p>
          <a:p>
            <a:pPr algn="l">
              <a:spcAft>
                <a:spcPts val="300"/>
              </a:spcAft>
            </a:pPr>
            <a:r>
              <a:rPr sz="1100" b="0">
                <a:solidFill>
                  <a:srgbClr val="5B6372"/>
                </a:solidFill>
                <a:latin typeface="Arial"/>
              </a:rPr>
              <a:t>Address personal attacks at once; protect voice.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Close the loop</a:t>
            </a:r>
          </a:p>
          <a:p>
            <a:pPr algn="l">
              <a:spcAft>
                <a:spcPts val="300"/>
              </a:spcAft>
            </a:pPr>
            <a:r>
              <a:rPr sz="1100" b="0">
                <a:solidFill>
                  <a:srgbClr val="5B6372"/>
                </a:solidFill>
                <a:latin typeface="Arial"/>
              </a:rPr>
              <a:t>Report back what changed because someone spoke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COACHING TEAM MEMBERS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COACH Conversation for Leaders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Contract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Purpose, time, respect</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Observe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Behaviour and impact</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Ask</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Perspective and needs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Create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Their options first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Hold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Commit, support, review</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COACH THE PERSON, FIX THE SYSTEM</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Accountability lasts when the leader also changes the conditions — decision rights, workload, norms — that kept producing the conflict.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MONITORING (ACTIVITY 8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Monitoring Indicators — GreenGrid 30-Day Review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Both lagging indicators improved, and the 'safe to raise concerns' pulse rose from 2.4 to 3.6 of 5. But the 3 remaining late changes were safety-related — the cut-off itself lacks a legitimate exception route.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05 · FEEDBACK CHANNELS &amp; PERIODIC REVIEW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Weak Follow-Up vs Effective Review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Weak follow-up</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Effective review</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Indicator type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Ask whether everyone is okay</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Check named behaviours against the baseline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Behaviour</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Assume silence means success</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 a confidential pulse and check-ins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People experience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Review only the two individuals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Review handoffs, decision rights, workload</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Process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Close the file after an apology</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Track rework, delays, complaints over time</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Work results / risk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05 · ROOT CAUSE &amp; PREVENTION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Root-Cause Review and Preventive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Review</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Evidence vs agreement</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Find the cause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Ask why to the system</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Prevent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Controls at every level</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Assign</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Owner, date, trigger</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Monitor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Indicators, cadence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AGREEMENT IS A HYPOTHESIS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Follow-up evidence tells you whether the resolution worked — and which guideline or protocol must change next.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LO5 · TOPIC 05 · ACTIVITY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Leader Coaching Huddle at NovaTech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7</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Role play · coaching triads  ·  25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At NovaTech Services, project lead Jordan feels that analyst Alex dismisses project decisions in meetings. Alex says Jordan closes discussion too quickly and uses seniority to override technical concerns. Two other analysts have stopped speaking up.</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Coach a team leader to build psychological safety and constructive dialogue, and turn the coaching into a team norm.</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 completed COACH planner, an observed coaching dialogue, and a team norm with two leader behaviours and a review date.</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COACH planner · psychological-safety behaviour card · observer sheet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NovaTech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Department manager Taylor will coach Jordan — not decide the dispute. Jordan must leave with leadership behaviours that invite dissent, clear decision rights and a team norm that keeps disagreement constructive.</a:t>
            </a:r>
          </a:p>
        </p:txBody>
      </p:sp>
      <p:sp>
        <p:nvSpPr>
          <p:cNvPr id="8" name="Rectangle 7"/>
          <p:cNvSpPr/>
          <p:nvPr/>
        </p:nvSpPr>
        <p:spPr>
          <a:xfrm>
            <a:off x="777240"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T</a:t>
            </a:r>
          </a:p>
        </p:txBody>
      </p:sp>
      <p:sp>
        <p:nvSpPr>
          <p:cNvPr id="12" name="TextBox 11"/>
          <p:cNvSpPr txBox="1"/>
          <p:nvPr/>
        </p:nvSpPr>
        <p:spPr>
          <a:xfrm>
            <a:off x="1645920"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Taylor · Department Manager (Coach)</a:t>
            </a:r>
          </a:p>
        </p:txBody>
      </p:sp>
      <p:sp>
        <p:nvSpPr>
          <p:cNvPr id="13" name="TextBox 12"/>
          <p:cNvSpPr txBox="1"/>
          <p:nvPr/>
        </p:nvSpPr>
        <p:spPr>
          <a:xfrm>
            <a:off x="978408" y="37033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Build Jordan's capability.</a:t>
            </a:r>
          </a:p>
        </p:txBody>
      </p:sp>
      <p:sp>
        <p:nvSpPr>
          <p:cNvPr id="15" name="TextBox 14"/>
          <p:cNvSpPr txBox="1"/>
          <p:nvPr/>
        </p:nvSpPr>
        <p:spPr>
          <a:xfrm>
            <a:off x="978408" y="46177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Uses questions, reframing and rehearsal; keeps clear boundaries between coaching and formal action.</a:t>
            </a:r>
          </a:p>
        </p:txBody>
      </p:sp>
      <p:sp>
        <p:nvSpPr>
          <p:cNvPr id="17" name="Rectangle 16"/>
          <p:cNvSpPr/>
          <p:nvPr/>
        </p:nvSpPr>
        <p:spPr>
          <a:xfrm>
            <a:off x="4398264"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269748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99432"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J</a:t>
            </a:r>
          </a:p>
        </p:txBody>
      </p:sp>
      <p:sp>
        <p:nvSpPr>
          <p:cNvPr id="21" name="TextBox 20"/>
          <p:cNvSpPr txBox="1"/>
          <p:nvPr/>
        </p:nvSpPr>
        <p:spPr>
          <a:xfrm>
            <a:off x="5266944"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Jordan · Project Lead</a:t>
            </a:r>
          </a:p>
        </p:txBody>
      </p:sp>
      <p:sp>
        <p:nvSpPr>
          <p:cNvPr id="22" name="TextBox 21"/>
          <p:cNvSpPr txBox="1"/>
          <p:nvPr/>
        </p:nvSpPr>
        <p:spPr>
          <a:xfrm>
            <a:off x="4599432" y="37033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4599432"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Restore respectful challenge and decision clarity.</a:t>
            </a:r>
          </a:p>
        </p:txBody>
      </p:sp>
      <p:sp>
        <p:nvSpPr>
          <p:cNvPr id="24" name="TextBox 23"/>
          <p:cNvSpPr txBox="1"/>
          <p:nvPr/>
        </p:nvSpPr>
        <p:spPr>
          <a:xfrm>
            <a:off x="4599432" y="46177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4599432"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Feels undermined but must examine own defensiveness and use of authority.</a:t>
            </a:r>
          </a:p>
        </p:txBody>
      </p:sp>
      <p:sp>
        <p:nvSpPr>
          <p:cNvPr id="26" name="Rectangle 25"/>
          <p:cNvSpPr/>
          <p:nvPr/>
        </p:nvSpPr>
        <p:spPr>
          <a:xfrm>
            <a:off x="8019288"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69748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0456"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045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O</a:t>
            </a:r>
          </a:p>
        </p:txBody>
      </p:sp>
      <p:sp>
        <p:nvSpPr>
          <p:cNvPr id="30" name="TextBox 29"/>
          <p:cNvSpPr txBox="1"/>
          <p:nvPr/>
        </p:nvSpPr>
        <p:spPr>
          <a:xfrm>
            <a:off x="8887968"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Observer · Feedback Partner</a:t>
            </a:r>
          </a:p>
        </p:txBody>
      </p:sp>
      <p:sp>
        <p:nvSpPr>
          <p:cNvPr id="31" name="TextBox 30"/>
          <p:cNvSpPr txBox="1"/>
          <p:nvPr/>
        </p:nvSpPr>
        <p:spPr>
          <a:xfrm>
            <a:off x="8220456" y="37033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8220456"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Assess coaching quality.</a:t>
            </a:r>
          </a:p>
        </p:txBody>
      </p:sp>
      <p:sp>
        <p:nvSpPr>
          <p:cNvPr id="33" name="TextBox 32"/>
          <p:cNvSpPr txBox="1"/>
          <p:nvPr/>
        </p:nvSpPr>
        <p:spPr>
          <a:xfrm>
            <a:off x="8220456" y="46177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8220456"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Checks neutrality, ownership, psychological-safety behaviours and follow-up.</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7 Runs — 25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Pattern review and coach preparation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Contract and opening</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Observed coaching dialogue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10 min</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Commitments and team norm</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Observer feedback</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Coach a team leader to build psychological safety and constructive dialogue, and turn the coaching into a team norm.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Review the pattern</a:t>
            </a:r>
          </a:p>
          <a:p>
            <a:pPr algn="l">
              <a:spcAft>
                <a:spcPts val="100"/>
              </a:spcAft>
            </a:pPr>
            <a:r>
              <a:rPr sz="1050" b="0">
                <a:solidFill>
                  <a:srgbClr val="5B6372"/>
                </a:solidFill>
                <a:latin typeface="Arial"/>
              </a:rPr>
              <a:t>Identify repeated team behaviours, their impact on work and what the leader may be reinforcing through action or silence.</a:t>
            </a:r>
          </a:p>
        </p:txBody>
      </p:sp>
      <p:sp>
        <p:nvSpPr>
          <p:cNvPr id="12" name="Rectangle 11"/>
          <p:cNvSpPr/>
          <p:nvPr/>
        </p:nvSpPr>
        <p:spPr>
          <a:xfrm>
            <a:off x="777240"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Prepare the coach</a:t>
            </a:r>
          </a:p>
          <a:p>
            <a:pPr algn="l">
              <a:spcAft>
                <a:spcPts val="100"/>
              </a:spcAft>
            </a:pPr>
            <a:r>
              <a:rPr sz="1050" b="0">
                <a:solidFill>
                  <a:srgbClr val="5B6372"/>
                </a:solidFill>
                <a:latin typeface="Arial"/>
              </a:rPr>
              <a:t>Write the purpose, two observable examples, open questions and the boundary between coaching and formal performance or grievance handling.</a:t>
            </a:r>
          </a:p>
        </p:txBody>
      </p:sp>
      <p:sp>
        <p:nvSpPr>
          <p:cNvPr id="17" name="Rectangle 16"/>
          <p:cNvSpPr/>
          <p:nvPr/>
        </p:nvSpPr>
        <p:spPr>
          <a:xfrm>
            <a:off x="777240"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Contract</a:t>
            </a:r>
          </a:p>
          <a:p>
            <a:pPr algn="l">
              <a:spcAft>
                <a:spcPts val="100"/>
              </a:spcAft>
            </a:pPr>
            <a:r>
              <a:rPr sz="1050" b="0">
                <a:solidFill>
                  <a:srgbClr val="5B6372"/>
                </a:solidFill>
                <a:latin typeface="Arial"/>
              </a:rPr>
              <a:t>Clarify purpose, time and the shared aim of restoring constructive challenge in the team.</a:t>
            </a:r>
          </a:p>
        </p:txBody>
      </p:sp>
      <p:sp>
        <p:nvSpPr>
          <p:cNvPr id="22" name="Rectangle 21"/>
          <p:cNvSpPr/>
          <p:nvPr/>
        </p:nvSpPr>
        <p:spPr>
          <a:xfrm>
            <a:off x="777240" y="5177790"/>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77790"/>
            <a:ext cx="73152" cy="10584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552411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552411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5177790"/>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Observe and ask</a:t>
            </a:r>
          </a:p>
          <a:p>
            <a:pPr algn="l">
              <a:spcAft>
                <a:spcPts val="100"/>
              </a:spcAft>
            </a:pPr>
            <a:r>
              <a:rPr sz="1050" b="0">
                <a:solidFill>
                  <a:srgbClr val="5B6372"/>
                </a:solidFill>
                <a:latin typeface="Arial"/>
              </a:rPr>
              <a:t>Describe specific behaviour and impact without motive claims, then ask open questions about Jordan's perspective, needs and pressures.</a:t>
            </a:r>
          </a:p>
        </p:txBody>
      </p:sp>
      <p:sp>
        <p:nvSpPr>
          <p:cNvPr id="27" name="Rectangle 26"/>
          <p:cNvSpPr/>
          <p:nvPr/>
        </p:nvSpPr>
        <p:spPr>
          <a:xfrm>
            <a:off x="6208776" y="1755648"/>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08776" y="1755648"/>
            <a:ext cx="73152" cy="105841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73368" y="210197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210197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6848856" y="1755648"/>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Explore leader behaviours</a:t>
            </a:r>
          </a:p>
          <a:p>
            <a:pPr algn="l">
              <a:spcAft>
                <a:spcPts val="100"/>
              </a:spcAft>
            </a:pPr>
            <a:r>
              <a:rPr sz="1050" b="0">
                <a:solidFill>
                  <a:srgbClr val="5B6372"/>
                </a:solidFill>
                <a:latin typeface="Arial"/>
              </a:rPr>
              <a:t>Use the behaviour card: invite dissent before deciding, thank challengers, separate debate from decision, explain decision rights, close the loop.</a:t>
            </a:r>
          </a:p>
        </p:txBody>
      </p:sp>
      <p:sp>
        <p:nvSpPr>
          <p:cNvPr id="32" name="Rectangle 31"/>
          <p:cNvSpPr/>
          <p:nvPr/>
        </p:nvSpPr>
        <p:spPr>
          <a:xfrm>
            <a:off x="6208776" y="2896362"/>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2896362"/>
            <a:ext cx="73152" cy="10584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324269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3242691"/>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2896362"/>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Create options</a:t>
            </a:r>
          </a:p>
          <a:p>
            <a:pPr algn="l">
              <a:spcAft>
                <a:spcPts val="100"/>
              </a:spcAft>
            </a:pPr>
            <a:r>
              <a:rPr sz="1050" b="0">
                <a:solidFill>
                  <a:srgbClr val="5B6372"/>
                </a:solidFill>
                <a:latin typeface="Arial"/>
              </a:rPr>
              <a:t>Jordan proposes actions first; Taylor adds support, team norms and workflow changes.</a:t>
            </a:r>
          </a:p>
        </p:txBody>
      </p:sp>
      <p:sp>
        <p:nvSpPr>
          <p:cNvPr id="37" name="Rectangle 36"/>
          <p:cNvSpPr/>
          <p:nvPr/>
        </p:nvSpPr>
        <p:spPr>
          <a:xfrm>
            <a:off x="6208776" y="4037076"/>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4037076"/>
            <a:ext cx="73152" cy="10584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438340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43834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4037076"/>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Hold commitment</a:t>
            </a:r>
          </a:p>
          <a:p>
            <a:pPr algn="l">
              <a:spcAft>
                <a:spcPts val="100"/>
              </a:spcAft>
            </a:pPr>
            <a:r>
              <a:rPr sz="1050" b="0">
                <a:solidFill>
                  <a:srgbClr val="5B6372"/>
                </a:solidFill>
                <a:latin typeface="Arial"/>
              </a:rPr>
              <a:t>Agree two observable leader behaviours, a team norm, support, evidence of progress and a review date.</a:t>
            </a:r>
          </a:p>
        </p:txBody>
      </p:sp>
      <p:sp>
        <p:nvSpPr>
          <p:cNvPr id="42" name="Rectangle 41"/>
          <p:cNvSpPr/>
          <p:nvPr/>
        </p:nvSpPr>
        <p:spPr>
          <a:xfrm>
            <a:off x="6208776" y="5177790"/>
            <a:ext cx="5202936" cy="10584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5177790"/>
            <a:ext cx="73152" cy="10584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73368" y="552411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552411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8</a:t>
            </a:r>
          </a:p>
        </p:txBody>
      </p:sp>
      <p:sp>
        <p:nvSpPr>
          <p:cNvPr id="46" name="TextBox 45"/>
          <p:cNvSpPr txBox="1"/>
          <p:nvPr/>
        </p:nvSpPr>
        <p:spPr>
          <a:xfrm>
            <a:off x="6848856" y="5177790"/>
            <a:ext cx="4453128" cy="1058418"/>
          </a:xfrm>
          <a:prstGeom prst="rect">
            <a:avLst/>
          </a:prstGeom>
          <a:noFill/>
        </p:spPr>
        <p:txBody>
          <a:bodyPr wrap="square" anchor="ctr">
            <a:spAutoFit/>
          </a:bodyPr>
          <a:lstStyle/>
          <a:p>
            <a:pPr algn="l">
              <a:spcAft>
                <a:spcPts val="100"/>
              </a:spcAft>
            </a:pPr>
            <a:r>
              <a:rPr sz="1250" b="1">
                <a:solidFill>
                  <a:srgbClr val="161B26"/>
                </a:solidFill>
                <a:latin typeface="Arial"/>
              </a:rPr>
              <a:t>Observer feedback</a:t>
            </a:r>
          </a:p>
          <a:p>
            <a:pPr algn="l">
              <a:spcAft>
                <a:spcPts val="100"/>
              </a:spcAft>
            </a:pPr>
            <a:r>
              <a:rPr sz="1050" b="0">
                <a:solidFill>
                  <a:srgbClr val="5B6372"/>
                </a:solidFill>
                <a:latin typeface="Arial"/>
              </a:rPr>
              <a:t>The observer scores listening, neutrality, specificity, psychological safety and follow-up, then the triad drafts the team norm wording.</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Debrief — Leader Coaching Huddle at NovaTech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The coaching keeps ownership with Jordan, commits to observable psychological-safety behaviours and a team norm, and sets a review date.</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questions helped Jordan separate facts, feelings, assumptions and needs?</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leader behaviours most affect whether people speak up?</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How can Jordan invite challenge without reopening every decision?</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When should Taylor move from coaching to formal action?</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Coach gives the answers</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Ask before telling — 'What would you try?' builds ownership and capability.</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Plan only fixes Alex</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Add at least one change in leader behaviour or team system.</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Behaviours are vague</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Make them observable: 'ask for two concerns before every decision' rather than 'be more open'.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LO5 · TOPIC 05 · ACTIVITY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30-Day Resolution Review at GreenGrid Engineering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ACTIVITY 8</a:t>
            </a:r>
          </a:p>
        </p:txBody>
      </p:sp>
      <p:sp>
        <p:nvSpPr>
          <p:cNvPr id="9" name="TextBox 8"/>
          <p:cNvSpPr txBox="1"/>
          <p:nvPr/>
        </p:nvSpPr>
        <p:spPr>
          <a:xfrm>
            <a:off x="2670048" y="1719072"/>
            <a:ext cx="8686800" cy="420624"/>
          </a:xfrm>
          <a:prstGeom prst="rect">
            <a:avLst/>
          </a:prstGeom>
          <a:noFill/>
        </p:spPr>
        <p:txBody>
          <a:bodyPr wrap="square" anchor="ctr">
            <a:spAutoFit/>
          </a:bodyPr>
          <a:lstStyle/>
          <a:p>
            <a:pPr algn="l">
              <a:spcAft>
                <a:spcPts val="400"/>
              </a:spcAft>
            </a:pPr>
            <a:r>
              <a:rPr sz="1200" b="1">
                <a:solidFill>
                  <a:srgbClr val="5B6372"/>
                </a:solidFill>
                <a:latin typeface="Arial"/>
              </a:rPr>
              <a:t>Case study · review panel  ·  30 minutes</a:t>
            </a:r>
          </a:p>
        </p:txBody>
      </p:sp>
      <p:sp>
        <p:nvSpPr>
          <p:cNvPr id="10" name="Rectangle 9"/>
          <p:cNvSpPr/>
          <p:nvPr/>
        </p:nvSpPr>
        <p:spPr>
          <a:xfrm>
            <a:off x="777240" y="2286000"/>
            <a:ext cx="10634472" cy="1325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325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359152"/>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THE SITUATION</a:t>
            </a:r>
          </a:p>
        </p:txBody>
      </p:sp>
      <p:sp>
        <p:nvSpPr>
          <p:cNvPr id="13" name="TextBox 12"/>
          <p:cNvSpPr txBox="1"/>
          <p:nvPr/>
        </p:nvSpPr>
        <p:spPr>
          <a:xfrm>
            <a:off x="1051560" y="2651760"/>
            <a:ext cx="10149840" cy="914400"/>
          </a:xfrm>
          <a:prstGeom prst="rect">
            <a:avLst/>
          </a:prstGeom>
          <a:noFill/>
        </p:spPr>
        <p:txBody>
          <a:bodyPr wrap="square" anchor="t">
            <a:spAutoFit/>
          </a:bodyPr>
          <a:lstStyle/>
          <a:p>
            <a:pPr algn="l">
              <a:spcAft>
                <a:spcPts val="400"/>
              </a:spcAft>
            </a:pPr>
            <a:r>
              <a:rPr sz="1250" b="0">
                <a:solidFill>
                  <a:srgbClr val="161B26"/>
                </a:solidFill>
                <a:latin typeface="Arial"/>
              </a:rPr>
              <a:t>GreenGrid Engineering mediated a conflict between design lead Noor and site lead Ethan after repeated late drawing changes caused site rework. They agreed respectful language, a 3:00pm change cut-off and a weekly coordination meeting.</a:t>
            </a:r>
          </a:p>
        </p:txBody>
      </p:sp>
      <p:sp>
        <p:nvSpPr>
          <p:cNvPr id="14" name="Rectangle 13"/>
          <p:cNvSpPr/>
          <p:nvPr/>
        </p:nvSpPr>
        <p:spPr>
          <a:xfrm>
            <a:off x="777240"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9476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5935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OBJECTIVE</a:t>
            </a:r>
          </a:p>
        </p:txBody>
      </p:sp>
      <p:sp>
        <p:nvSpPr>
          <p:cNvPr id="17" name="TextBox 16"/>
          <p:cNvSpPr txBox="1"/>
          <p:nvPr/>
        </p:nvSpPr>
        <p:spPr>
          <a:xfrm>
            <a:off x="996696"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Monitor resolution effectiveness with balanced indicators, run a root-cause review and design preventive controls and guideline updates.</a:t>
            </a:r>
          </a:p>
        </p:txBody>
      </p:sp>
      <p:sp>
        <p:nvSpPr>
          <p:cNvPr id="18" name="Rectangle 17"/>
          <p:cNvSpPr/>
          <p:nvPr/>
        </p:nvSpPr>
        <p:spPr>
          <a:xfrm>
            <a:off x="4398264"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9476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5935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21" name="TextBox 20"/>
          <p:cNvSpPr txBox="1"/>
          <p:nvPr/>
        </p:nvSpPr>
        <p:spPr>
          <a:xfrm>
            <a:off x="4617720"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A 30-day review scorecard, a root-cause summary and a prevention plan with owners, triggers and a guideline update.</a:t>
            </a:r>
          </a:p>
        </p:txBody>
      </p:sp>
      <p:sp>
        <p:nvSpPr>
          <p:cNvPr id="22" name="Rectangle 21"/>
          <p:cNvSpPr/>
          <p:nvPr/>
        </p:nvSpPr>
        <p:spPr>
          <a:xfrm>
            <a:off x="8019288" y="3794760"/>
            <a:ext cx="3392424"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9476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5935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MATERIALS</a:t>
            </a:r>
          </a:p>
        </p:txBody>
      </p:sp>
      <p:sp>
        <p:nvSpPr>
          <p:cNvPr id="25" name="TextBox 24"/>
          <p:cNvSpPr txBox="1"/>
          <p:nvPr/>
        </p:nvSpPr>
        <p:spPr>
          <a:xfrm>
            <a:off x="8238744" y="4297680"/>
            <a:ext cx="2980944" cy="1783080"/>
          </a:xfrm>
          <a:prstGeom prst="rect">
            <a:avLst/>
          </a:prstGeom>
          <a:noFill/>
        </p:spPr>
        <p:txBody>
          <a:bodyPr wrap="square" anchor="t">
            <a:spAutoFit/>
          </a:bodyPr>
          <a:lstStyle/>
          <a:p>
            <a:pPr algn="l">
              <a:spcAft>
                <a:spcPts val="400"/>
              </a:spcAft>
            </a:pPr>
            <a:r>
              <a:rPr sz="1250" b="0">
                <a:solidFill>
                  <a:srgbClr val="161B26"/>
                </a:solidFill>
                <a:latin typeface="Arial"/>
              </a:rPr>
              <a:t>Review scorecard · root-cause template · prevention-plan template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ROLE CARDS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Scenario &amp; Roles — GreenGrid Engineering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19072"/>
            <a:ext cx="10634472" cy="868680"/>
          </a:xfrm>
          <a:prstGeom prst="rect">
            <a:avLst/>
          </a:prstGeom>
          <a:noFill/>
        </p:spPr>
        <p:txBody>
          <a:bodyPr wrap="square" anchor="t">
            <a:spAutoFit/>
          </a:bodyPr>
          <a:lstStyle/>
          <a:p>
            <a:pPr algn="l">
              <a:spcAft>
                <a:spcPts val="400"/>
              </a:spcAft>
            </a:pPr>
            <a:r>
              <a:rPr sz="1250" b="0">
                <a:solidFill>
                  <a:srgbClr val="5B6372"/>
                </a:solidFill>
                <a:latin typeface="Arial"/>
              </a:rPr>
              <a:t>Thirty days later, late changes fell from 9 to 3 a week, rework fell from 22 to 10 hours a week, and the 'I can raise concerns safely' pulse rose from 2.4 to 3.6 out of 5. But the three remaining late changes were safety-related, and one came from unclear approval authority. Learners judge effectiveness and design recurrence controls.</a:t>
            </a:r>
          </a:p>
        </p:txBody>
      </p:sp>
      <p:sp>
        <p:nvSpPr>
          <p:cNvPr id="8" name="Rectangle 7"/>
          <p:cNvSpPr/>
          <p:nvPr/>
        </p:nvSpPr>
        <p:spPr>
          <a:xfrm>
            <a:off x="777240"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69748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408" y="297180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RL</a:t>
            </a:r>
          </a:p>
        </p:txBody>
      </p:sp>
      <p:sp>
        <p:nvSpPr>
          <p:cNvPr id="12" name="TextBox 11"/>
          <p:cNvSpPr txBox="1"/>
          <p:nvPr/>
        </p:nvSpPr>
        <p:spPr>
          <a:xfrm>
            <a:off x="1645920"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Review Lead</a:t>
            </a:r>
          </a:p>
        </p:txBody>
      </p:sp>
      <p:sp>
        <p:nvSpPr>
          <p:cNvPr id="13" name="TextBox 12"/>
          <p:cNvSpPr txBox="1"/>
          <p:nvPr/>
        </p:nvSpPr>
        <p:spPr>
          <a:xfrm>
            <a:off x="978408" y="37033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GOAL</a:t>
            </a:r>
          </a:p>
        </p:txBody>
      </p:sp>
      <p:sp>
        <p:nvSpPr>
          <p:cNvPr id="14" name="TextBox 13"/>
          <p:cNvSpPr txBox="1"/>
          <p:nvPr/>
        </p:nvSpPr>
        <p:spPr>
          <a:xfrm>
            <a:off x="978408"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Evaluate fairly and improve the system.</a:t>
            </a:r>
          </a:p>
        </p:txBody>
      </p:sp>
      <p:sp>
        <p:nvSpPr>
          <p:cNvPr id="15" name="TextBox 14"/>
          <p:cNvSpPr txBox="1"/>
          <p:nvPr/>
        </p:nvSpPr>
        <p:spPr>
          <a:xfrm>
            <a:off x="978408" y="4617720"/>
            <a:ext cx="2990088" cy="274320"/>
          </a:xfrm>
          <a:prstGeom prst="rect">
            <a:avLst/>
          </a:prstGeom>
          <a:noFill/>
        </p:spPr>
        <p:txBody>
          <a:bodyPr wrap="square" anchor="t">
            <a:spAutoFit/>
          </a:bodyPr>
          <a:lstStyle/>
          <a:p>
            <a:pPr algn="l">
              <a:spcAft>
                <a:spcPts val="400"/>
              </a:spcAft>
            </a:pPr>
            <a:r>
              <a:rPr sz="1000" b="1">
                <a:solidFill>
                  <a:srgbClr val="1F6FEB"/>
                </a:solidFill>
                <a:latin typeface="Arial"/>
              </a:rPr>
              <a:t>BRIEF</a:t>
            </a:r>
          </a:p>
        </p:txBody>
      </p:sp>
      <p:sp>
        <p:nvSpPr>
          <p:cNvPr id="16" name="TextBox 15"/>
          <p:cNvSpPr txBox="1"/>
          <p:nvPr/>
        </p:nvSpPr>
        <p:spPr>
          <a:xfrm>
            <a:off x="978408"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Uses evidence, protects confidentiality and separates outcomes from blame.</a:t>
            </a:r>
          </a:p>
        </p:txBody>
      </p:sp>
      <p:sp>
        <p:nvSpPr>
          <p:cNvPr id="17" name="Rectangle 16"/>
          <p:cNvSpPr/>
          <p:nvPr/>
        </p:nvSpPr>
        <p:spPr>
          <a:xfrm>
            <a:off x="4398264"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269748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99432" y="2971800"/>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N</a:t>
            </a:r>
          </a:p>
        </p:txBody>
      </p:sp>
      <p:sp>
        <p:nvSpPr>
          <p:cNvPr id="21" name="TextBox 20"/>
          <p:cNvSpPr txBox="1"/>
          <p:nvPr/>
        </p:nvSpPr>
        <p:spPr>
          <a:xfrm>
            <a:off x="5266944"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Noor · Design Lead</a:t>
            </a:r>
          </a:p>
        </p:txBody>
      </p:sp>
      <p:sp>
        <p:nvSpPr>
          <p:cNvPr id="22" name="TextBox 21"/>
          <p:cNvSpPr txBox="1"/>
          <p:nvPr/>
        </p:nvSpPr>
        <p:spPr>
          <a:xfrm>
            <a:off x="4599432" y="37033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GOAL</a:t>
            </a:r>
          </a:p>
        </p:txBody>
      </p:sp>
      <p:sp>
        <p:nvSpPr>
          <p:cNvPr id="23" name="TextBox 22"/>
          <p:cNvSpPr txBox="1"/>
          <p:nvPr/>
        </p:nvSpPr>
        <p:spPr>
          <a:xfrm>
            <a:off x="4599432"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Protect design integrity.</a:t>
            </a:r>
          </a:p>
        </p:txBody>
      </p:sp>
      <p:sp>
        <p:nvSpPr>
          <p:cNvPr id="24" name="TextBox 23"/>
          <p:cNvSpPr txBox="1"/>
          <p:nvPr/>
        </p:nvSpPr>
        <p:spPr>
          <a:xfrm>
            <a:off x="4599432" y="4617720"/>
            <a:ext cx="2990088" cy="274320"/>
          </a:xfrm>
          <a:prstGeom prst="rect">
            <a:avLst/>
          </a:prstGeom>
          <a:noFill/>
        </p:spPr>
        <p:txBody>
          <a:bodyPr wrap="square" anchor="t">
            <a:spAutoFit/>
          </a:bodyPr>
          <a:lstStyle/>
          <a:p>
            <a:pPr algn="l">
              <a:spcAft>
                <a:spcPts val="400"/>
              </a:spcAft>
            </a:pPr>
            <a:r>
              <a:rPr sz="1000" b="1">
                <a:solidFill>
                  <a:srgbClr val="10B981"/>
                </a:solidFill>
                <a:latin typeface="Arial"/>
              </a:rPr>
              <a:t>BRIEF</a:t>
            </a:r>
          </a:p>
        </p:txBody>
      </p:sp>
      <p:sp>
        <p:nvSpPr>
          <p:cNvPr id="25" name="TextBox 24"/>
          <p:cNvSpPr txBox="1"/>
          <p:nvPr/>
        </p:nvSpPr>
        <p:spPr>
          <a:xfrm>
            <a:off x="4599432"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Reports better dialogue but unclear authority for urgent safety changes.</a:t>
            </a:r>
          </a:p>
        </p:txBody>
      </p:sp>
      <p:sp>
        <p:nvSpPr>
          <p:cNvPr id="26" name="Rectangle 25"/>
          <p:cNvSpPr/>
          <p:nvPr/>
        </p:nvSpPr>
        <p:spPr>
          <a:xfrm>
            <a:off x="8019288" y="2697480"/>
            <a:ext cx="3392424"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69748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0456" y="2971800"/>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0456" y="2971800"/>
            <a:ext cx="566928" cy="566928"/>
          </a:xfrm>
          <a:prstGeom prst="rect">
            <a:avLst/>
          </a:prstGeom>
          <a:noFill/>
        </p:spPr>
        <p:txBody>
          <a:bodyPr wrap="square" anchor="ctr">
            <a:spAutoFit/>
          </a:bodyPr>
          <a:lstStyle/>
          <a:p>
            <a:pPr algn="ctr">
              <a:spcAft>
                <a:spcPts val="400"/>
              </a:spcAft>
            </a:pPr>
            <a:r>
              <a:rPr sz="1500" b="1">
                <a:solidFill>
                  <a:srgbClr val="FFFFFF"/>
                </a:solidFill>
                <a:latin typeface="Arial"/>
              </a:rPr>
              <a:t>E</a:t>
            </a:r>
          </a:p>
        </p:txBody>
      </p:sp>
      <p:sp>
        <p:nvSpPr>
          <p:cNvPr id="30" name="TextBox 29"/>
          <p:cNvSpPr txBox="1"/>
          <p:nvPr/>
        </p:nvSpPr>
        <p:spPr>
          <a:xfrm>
            <a:off x="8887968" y="2926080"/>
            <a:ext cx="2386584" cy="685800"/>
          </a:xfrm>
          <a:prstGeom prst="rect">
            <a:avLst/>
          </a:prstGeom>
          <a:noFill/>
        </p:spPr>
        <p:txBody>
          <a:bodyPr wrap="square" anchor="ctr">
            <a:spAutoFit/>
          </a:bodyPr>
          <a:lstStyle/>
          <a:p>
            <a:pPr algn="l">
              <a:spcAft>
                <a:spcPts val="400"/>
              </a:spcAft>
            </a:pPr>
            <a:r>
              <a:rPr sz="1250" b="1">
                <a:solidFill>
                  <a:srgbClr val="161B26"/>
                </a:solidFill>
                <a:latin typeface="Arial"/>
              </a:rPr>
              <a:t>Ethan · Site Lead</a:t>
            </a:r>
          </a:p>
        </p:txBody>
      </p:sp>
      <p:sp>
        <p:nvSpPr>
          <p:cNvPr id="31" name="TextBox 30"/>
          <p:cNvSpPr txBox="1"/>
          <p:nvPr/>
        </p:nvSpPr>
        <p:spPr>
          <a:xfrm>
            <a:off x="8220456" y="37033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GOAL</a:t>
            </a:r>
          </a:p>
        </p:txBody>
      </p:sp>
      <p:sp>
        <p:nvSpPr>
          <p:cNvPr id="32" name="TextBox 31"/>
          <p:cNvSpPr txBox="1"/>
          <p:nvPr/>
        </p:nvSpPr>
        <p:spPr>
          <a:xfrm>
            <a:off x="8220456" y="3959352"/>
            <a:ext cx="2990088" cy="640080"/>
          </a:xfrm>
          <a:prstGeom prst="rect">
            <a:avLst/>
          </a:prstGeom>
          <a:noFill/>
        </p:spPr>
        <p:txBody>
          <a:bodyPr wrap="square" anchor="t">
            <a:spAutoFit/>
          </a:bodyPr>
          <a:lstStyle/>
          <a:p>
            <a:pPr algn="l">
              <a:spcAft>
                <a:spcPts val="400"/>
              </a:spcAft>
            </a:pPr>
            <a:r>
              <a:rPr sz="1150" b="1">
                <a:solidFill>
                  <a:srgbClr val="161B26"/>
                </a:solidFill>
                <a:latin typeface="Arial"/>
              </a:rPr>
              <a:t>Reduce rework and schedule risk.</a:t>
            </a:r>
          </a:p>
        </p:txBody>
      </p:sp>
      <p:sp>
        <p:nvSpPr>
          <p:cNvPr id="33" name="TextBox 32"/>
          <p:cNvSpPr txBox="1"/>
          <p:nvPr/>
        </p:nvSpPr>
        <p:spPr>
          <a:xfrm>
            <a:off x="8220456" y="4617720"/>
            <a:ext cx="2990088" cy="274320"/>
          </a:xfrm>
          <a:prstGeom prst="rect">
            <a:avLst/>
          </a:prstGeom>
          <a:noFill/>
        </p:spPr>
        <p:txBody>
          <a:bodyPr wrap="square" anchor="t">
            <a:spAutoFit/>
          </a:bodyPr>
          <a:lstStyle/>
          <a:p>
            <a:pPr algn="l">
              <a:spcAft>
                <a:spcPts val="400"/>
              </a:spcAft>
            </a:pPr>
            <a:r>
              <a:rPr sz="1000" b="1">
                <a:solidFill>
                  <a:srgbClr val="7C3AED"/>
                </a:solidFill>
                <a:latin typeface="Arial"/>
              </a:rPr>
              <a:t>BRIEF</a:t>
            </a:r>
          </a:p>
        </p:txBody>
      </p:sp>
      <p:sp>
        <p:nvSpPr>
          <p:cNvPr id="34" name="TextBox 33"/>
          <p:cNvSpPr txBox="1"/>
          <p:nvPr/>
        </p:nvSpPr>
        <p:spPr>
          <a:xfrm>
            <a:off x="8220456" y="4873752"/>
            <a:ext cx="2990088" cy="1280160"/>
          </a:xfrm>
          <a:prstGeom prst="rect">
            <a:avLst/>
          </a:prstGeom>
          <a:noFill/>
        </p:spPr>
        <p:txBody>
          <a:bodyPr wrap="square" anchor="t">
            <a:spAutoFit/>
          </a:bodyPr>
          <a:lstStyle/>
          <a:p>
            <a:pPr algn="l">
              <a:spcAft>
                <a:spcPts val="400"/>
              </a:spcAft>
            </a:pPr>
            <a:r>
              <a:rPr sz="1100" b="0">
                <a:solidFill>
                  <a:srgbClr val="5B6372"/>
                </a:solidFill>
                <a:latin typeface="Arial"/>
              </a:rPr>
              <a:t>Sees improvement but wants a faster, legitimate exception route.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Activity 8 Runs — 30 Minutes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Restate agreement</a:t>
            </a:r>
          </a:p>
        </p:txBody>
      </p:sp>
      <p:sp>
        <p:nvSpPr>
          <p:cNvPr id="12" name="TextBox 11"/>
          <p:cNvSpPr txBox="1"/>
          <p:nvPr/>
        </p:nvSpPr>
        <p:spPr>
          <a:xfrm>
            <a:off x="8686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3 min</a:t>
            </a:r>
          </a:p>
        </p:txBody>
      </p:sp>
      <p:cxnSp>
        <p:nvCxnSpPr>
          <p:cNvPr id="13" name="Connector 12"/>
          <p:cNvCxnSpPr/>
          <p:nvPr/>
        </p:nvCxnSpPr>
        <p:spPr>
          <a:xfrm>
            <a:off x="228447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Balanced indicators</a:t>
            </a:r>
          </a:p>
        </p:txBody>
      </p:sp>
      <p:sp>
        <p:nvSpPr>
          <p:cNvPr id="19" name="TextBox 18"/>
          <p:cNvSpPr txBox="1"/>
          <p:nvPr/>
        </p:nvSpPr>
        <p:spPr>
          <a:xfrm>
            <a:off x="270510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4 min</a:t>
            </a:r>
          </a:p>
        </p:txBody>
      </p:sp>
      <p:cxnSp>
        <p:nvCxnSpPr>
          <p:cNvPr id="20" name="Connector 19"/>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Evidence review</a:t>
            </a:r>
          </a:p>
        </p:txBody>
      </p:sp>
      <p:sp>
        <p:nvSpPr>
          <p:cNvPr id="26" name="TextBox 25"/>
          <p:cNvSpPr txBox="1"/>
          <p:nvPr/>
        </p:nvSpPr>
        <p:spPr>
          <a:xfrm>
            <a:off x="454152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cxnSp>
        <p:nvCxnSpPr>
          <p:cNvPr id="27" name="Connector 26"/>
          <p:cNvCxnSpPr/>
          <p:nvPr/>
        </p:nvCxnSpPr>
        <p:spPr>
          <a:xfrm>
            <a:off x="595731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Voices, side effects and verdict</a:t>
            </a:r>
          </a:p>
        </p:txBody>
      </p:sp>
      <p:sp>
        <p:nvSpPr>
          <p:cNvPr id="33" name="TextBox 32"/>
          <p:cNvSpPr txBox="1"/>
          <p:nvPr/>
        </p:nvSpPr>
        <p:spPr>
          <a:xfrm>
            <a:off x="637794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cxnSp>
        <p:nvCxnSpPr>
          <p:cNvPr id="34" name="Connector 33"/>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Root-cause review</a:t>
            </a:r>
          </a:p>
        </p:txBody>
      </p:sp>
      <p:sp>
        <p:nvSpPr>
          <p:cNvPr id="40" name="TextBox 39"/>
          <p:cNvSpPr txBox="1"/>
          <p:nvPr/>
        </p:nvSpPr>
        <p:spPr>
          <a:xfrm>
            <a:off x="821436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5 min</a:t>
            </a:r>
          </a:p>
        </p:txBody>
      </p:sp>
      <p:cxnSp>
        <p:nvCxnSpPr>
          <p:cNvPr id="41" name="Connector 40"/>
          <p:cNvCxnSpPr/>
          <p:nvPr/>
        </p:nvCxnSpPr>
        <p:spPr>
          <a:xfrm>
            <a:off x="963015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200" b="1">
                <a:solidFill>
                  <a:srgbClr val="161B26"/>
                </a:solidFill>
                <a:latin typeface="Arial"/>
              </a:rPr>
              <a:t>Prevention plan, owners and triggers</a:t>
            </a:r>
          </a:p>
        </p:txBody>
      </p:sp>
      <p:sp>
        <p:nvSpPr>
          <p:cNvPr id="47" name="TextBox 46"/>
          <p:cNvSpPr txBox="1"/>
          <p:nvPr/>
        </p:nvSpPr>
        <p:spPr>
          <a:xfrm>
            <a:off x="10050780" y="3822192"/>
            <a:ext cx="1269492" cy="347472"/>
          </a:xfrm>
          <a:prstGeom prst="rect">
            <a:avLst/>
          </a:prstGeom>
          <a:noFill/>
        </p:spPr>
        <p:txBody>
          <a:bodyPr wrap="square" anchor="ctr">
            <a:spAutoFit/>
          </a:bodyPr>
          <a:lstStyle/>
          <a:p>
            <a:pPr algn="ctr">
              <a:spcAft>
                <a:spcPts val="0"/>
              </a:spcAft>
            </a:pPr>
            <a:r>
              <a:rPr sz="900" b="0">
                <a:solidFill>
                  <a:srgbClr val="5B6372"/>
                </a:solidFill>
                <a:latin typeface="Arial"/>
              </a:rPr>
              <a:t>6 min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Monitor resolution effectiveness with balanced indicators, run a root-cause review and design preventive controls and guideline updates.</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Procedure —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87905"/>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1</a:t>
            </a:r>
          </a:p>
        </p:txBody>
      </p:sp>
      <p:sp>
        <p:nvSpPr>
          <p:cNvPr id="11" name="TextBox 10"/>
          <p:cNvSpPr txBox="1"/>
          <p:nvPr/>
        </p:nvSpPr>
        <p:spPr>
          <a:xfrm>
            <a:off x="1417320"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Restate the agreement</a:t>
            </a:r>
          </a:p>
          <a:p>
            <a:pPr algn="l">
              <a:spcAft>
                <a:spcPts val="100"/>
              </a:spcAft>
            </a:pPr>
            <a:r>
              <a:rPr sz="950" b="0">
                <a:solidFill>
                  <a:srgbClr val="5B6372"/>
                </a:solidFill>
                <a:latin typeface="Arial"/>
              </a:rPr>
              <a:t>Summarise the agreement as observable commitments, owners, intended outcomes and review measures.</a:t>
            </a:r>
          </a:p>
        </p:txBody>
      </p:sp>
      <p:sp>
        <p:nvSpPr>
          <p:cNvPr id="12" name="Rectangle 11"/>
          <p:cNvSpPr/>
          <p:nvPr/>
        </p:nvSpPr>
        <p:spPr>
          <a:xfrm>
            <a:off x="777240"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68219"/>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290047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2</a:t>
            </a:r>
          </a:p>
        </p:txBody>
      </p:sp>
      <p:sp>
        <p:nvSpPr>
          <p:cNvPr id="16" name="TextBox 15"/>
          <p:cNvSpPr txBox="1"/>
          <p:nvPr/>
        </p:nvSpPr>
        <p:spPr>
          <a:xfrm>
            <a:off x="1417320"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Select balanced indicators</a:t>
            </a:r>
          </a:p>
          <a:p>
            <a:pPr algn="l">
              <a:spcAft>
                <a:spcPts val="100"/>
              </a:spcAft>
            </a:pPr>
            <a:r>
              <a:rPr sz="950" b="0">
                <a:solidFill>
                  <a:srgbClr val="5B6372"/>
                </a:solidFill>
                <a:latin typeface="Arial"/>
              </a:rPr>
              <a:t>Use behaviour, process, work results, people experience and risk — never harmony or silence alone.</a:t>
            </a:r>
          </a:p>
        </p:txBody>
      </p:sp>
      <p:sp>
        <p:nvSpPr>
          <p:cNvPr id="17" name="Rectangle 16"/>
          <p:cNvSpPr/>
          <p:nvPr/>
        </p:nvSpPr>
        <p:spPr>
          <a:xfrm>
            <a:off x="777240"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80790"/>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2" y="3813047"/>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3</a:t>
            </a:r>
          </a:p>
        </p:txBody>
      </p:sp>
      <p:sp>
        <p:nvSpPr>
          <p:cNvPr id="21" name="TextBox 20"/>
          <p:cNvSpPr txBox="1"/>
          <p:nvPr/>
        </p:nvSpPr>
        <p:spPr>
          <a:xfrm>
            <a:off x="1417320"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Review the evidence</a:t>
            </a:r>
          </a:p>
          <a:p>
            <a:pPr algn="l">
              <a:spcAft>
                <a:spcPts val="100"/>
              </a:spcAft>
            </a:pPr>
            <a:r>
              <a:rPr sz="950" b="0">
                <a:solidFill>
                  <a:srgbClr val="5B6372"/>
                </a:solidFill>
                <a:latin typeface="Arial"/>
              </a:rPr>
              <a:t>Compare baseline, week 2 and day 30 for each indicator; mark movement as positive, mixed or negative and note data confidence.</a:t>
            </a:r>
          </a:p>
        </p:txBody>
      </p:sp>
      <p:sp>
        <p:nvSpPr>
          <p:cNvPr id="22" name="Rectangle 21"/>
          <p:cNvSpPr/>
          <p:nvPr/>
        </p:nvSpPr>
        <p:spPr>
          <a:xfrm>
            <a:off x="777240"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493361"/>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41832" y="472561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4</a:t>
            </a:r>
          </a:p>
        </p:txBody>
      </p:sp>
      <p:sp>
        <p:nvSpPr>
          <p:cNvPr id="26" name="TextBox 25"/>
          <p:cNvSpPr txBox="1"/>
          <p:nvPr/>
        </p:nvSpPr>
        <p:spPr>
          <a:xfrm>
            <a:off x="1417320"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Seek affected voices</a:t>
            </a:r>
          </a:p>
          <a:p>
            <a:pPr algn="l">
              <a:spcAft>
                <a:spcPts val="100"/>
              </a:spcAft>
            </a:pPr>
            <a:r>
              <a:rPr sz="950" b="0">
                <a:solidFill>
                  <a:srgbClr val="5B6372"/>
                </a:solidFill>
                <a:latin typeface="Arial"/>
              </a:rPr>
              <a:t>Plan brief confidential check-ins on fairness, safety, workload and whether commitments occur in practice.</a:t>
            </a:r>
          </a:p>
        </p:txBody>
      </p:sp>
      <p:sp>
        <p:nvSpPr>
          <p:cNvPr id="27" name="Rectangle 26"/>
          <p:cNvSpPr/>
          <p:nvPr/>
        </p:nvSpPr>
        <p:spPr>
          <a:xfrm>
            <a:off x="777240" y="5405932"/>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05932"/>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1832" y="5638189"/>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2" y="5638189"/>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5</a:t>
            </a:r>
          </a:p>
        </p:txBody>
      </p:sp>
      <p:sp>
        <p:nvSpPr>
          <p:cNvPr id="31" name="TextBox 30"/>
          <p:cNvSpPr txBox="1"/>
          <p:nvPr/>
        </p:nvSpPr>
        <p:spPr>
          <a:xfrm>
            <a:off x="1417320" y="5405932"/>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Check unintended effects</a:t>
            </a:r>
          </a:p>
          <a:p>
            <a:pPr algn="l">
              <a:spcAft>
                <a:spcPts val="100"/>
              </a:spcAft>
            </a:pPr>
            <a:r>
              <a:rPr sz="950" b="0">
                <a:solidFill>
                  <a:srgbClr val="5B6372"/>
                </a:solidFill>
                <a:latin typeface="Arial"/>
              </a:rPr>
              <a:t>Look for avoidance, hidden workarounds, unequal burden or the problem moving elsewhere.</a:t>
            </a:r>
          </a:p>
        </p:txBody>
      </p:sp>
      <p:sp>
        <p:nvSpPr>
          <p:cNvPr id="32" name="Rectangle 31"/>
          <p:cNvSpPr/>
          <p:nvPr/>
        </p:nvSpPr>
        <p:spPr>
          <a:xfrm>
            <a:off x="6208776" y="1755648"/>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08776" y="1755648"/>
            <a:ext cx="73152" cy="83027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73368" y="198790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3368" y="1987905"/>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6</a:t>
            </a:r>
          </a:p>
        </p:txBody>
      </p:sp>
      <p:sp>
        <p:nvSpPr>
          <p:cNvPr id="36" name="TextBox 35"/>
          <p:cNvSpPr txBox="1"/>
          <p:nvPr/>
        </p:nvSpPr>
        <p:spPr>
          <a:xfrm>
            <a:off x="6848856" y="1755648"/>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Decide effectiveness</a:t>
            </a:r>
          </a:p>
          <a:p>
            <a:pPr algn="l">
              <a:spcAft>
                <a:spcPts val="100"/>
              </a:spcAft>
            </a:pPr>
            <a:r>
              <a:rPr sz="950" b="0">
                <a:solidFill>
                  <a:srgbClr val="5B6372"/>
                </a:solidFill>
                <a:latin typeface="Arial"/>
              </a:rPr>
              <a:t>Classify the resolution as effective, partially effective or ineffective, with an evidence-based rationale.</a:t>
            </a:r>
          </a:p>
        </p:txBody>
      </p:sp>
      <p:sp>
        <p:nvSpPr>
          <p:cNvPr id="37" name="Rectangle 36"/>
          <p:cNvSpPr/>
          <p:nvPr/>
        </p:nvSpPr>
        <p:spPr>
          <a:xfrm>
            <a:off x="6208776" y="2668219"/>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08776" y="2668219"/>
            <a:ext cx="73152" cy="8302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373368" y="290047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2900476"/>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7</a:t>
            </a:r>
          </a:p>
        </p:txBody>
      </p:sp>
      <p:sp>
        <p:nvSpPr>
          <p:cNvPr id="41" name="TextBox 40"/>
          <p:cNvSpPr txBox="1"/>
          <p:nvPr/>
        </p:nvSpPr>
        <p:spPr>
          <a:xfrm>
            <a:off x="6848856" y="2668219"/>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Run the root-cause review</a:t>
            </a:r>
          </a:p>
          <a:p>
            <a:pPr algn="l">
              <a:spcAft>
                <a:spcPts val="100"/>
              </a:spcAft>
            </a:pPr>
            <a:r>
              <a:rPr sz="950" b="0">
                <a:solidFill>
                  <a:srgbClr val="5B6372"/>
                </a:solidFill>
                <a:latin typeface="Arial"/>
              </a:rPr>
              <a:t>Ask 'why' until you reach a system cause — here, missing decision rights for urgent safety changes.</a:t>
            </a:r>
          </a:p>
        </p:txBody>
      </p:sp>
      <p:sp>
        <p:nvSpPr>
          <p:cNvPr id="42" name="Rectangle 41"/>
          <p:cNvSpPr/>
          <p:nvPr/>
        </p:nvSpPr>
        <p:spPr>
          <a:xfrm>
            <a:off x="6208776" y="3580790"/>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3580790"/>
            <a:ext cx="73152" cy="83027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373368" y="381304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3813047"/>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8</a:t>
            </a:r>
          </a:p>
        </p:txBody>
      </p:sp>
      <p:sp>
        <p:nvSpPr>
          <p:cNvPr id="46" name="TextBox 45"/>
          <p:cNvSpPr txBox="1"/>
          <p:nvPr/>
        </p:nvSpPr>
        <p:spPr>
          <a:xfrm>
            <a:off x="6848856" y="3580790"/>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Design prevention controls</a:t>
            </a:r>
          </a:p>
          <a:p>
            <a:pPr algn="l">
              <a:spcAft>
                <a:spcPts val="100"/>
              </a:spcAft>
            </a:pPr>
            <a:r>
              <a:rPr sz="950" b="0">
                <a:solidFill>
                  <a:srgbClr val="5B6372"/>
                </a:solidFill>
                <a:latin typeface="Arial"/>
              </a:rPr>
              <a:t>Add controls at team, workflow, policy and leadership level — for example a safety-change exception route and an escalation-protocol update.</a:t>
            </a:r>
          </a:p>
        </p:txBody>
      </p:sp>
      <p:sp>
        <p:nvSpPr>
          <p:cNvPr id="47" name="Rectangle 46"/>
          <p:cNvSpPr/>
          <p:nvPr/>
        </p:nvSpPr>
        <p:spPr>
          <a:xfrm>
            <a:off x="6208776" y="4493361"/>
            <a:ext cx="5202936" cy="83027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08776" y="4493361"/>
            <a:ext cx="73152" cy="83027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373368" y="472561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3368" y="4725618"/>
            <a:ext cx="365760" cy="365760"/>
          </a:xfrm>
          <a:prstGeom prst="rect">
            <a:avLst/>
          </a:prstGeom>
          <a:noFill/>
        </p:spPr>
        <p:txBody>
          <a:bodyPr wrap="square" anchor="ctr">
            <a:spAutoFit/>
          </a:bodyPr>
          <a:lstStyle/>
          <a:p>
            <a:pPr algn="ctr">
              <a:spcAft>
                <a:spcPts val="400"/>
              </a:spcAft>
            </a:pPr>
            <a:r>
              <a:rPr sz="1200" b="1">
                <a:solidFill>
                  <a:srgbClr val="FFFFFF"/>
                </a:solidFill>
                <a:latin typeface="Arial"/>
              </a:rPr>
              <a:t>9</a:t>
            </a:r>
          </a:p>
        </p:txBody>
      </p:sp>
      <p:sp>
        <p:nvSpPr>
          <p:cNvPr id="51" name="TextBox 50"/>
          <p:cNvSpPr txBox="1"/>
          <p:nvPr/>
        </p:nvSpPr>
        <p:spPr>
          <a:xfrm>
            <a:off x="6848856" y="4493361"/>
            <a:ext cx="4453128" cy="830275"/>
          </a:xfrm>
          <a:prstGeom prst="rect">
            <a:avLst/>
          </a:prstGeom>
          <a:noFill/>
        </p:spPr>
        <p:txBody>
          <a:bodyPr wrap="square" anchor="ctr">
            <a:spAutoFit/>
          </a:bodyPr>
          <a:lstStyle/>
          <a:p>
            <a:pPr algn="l">
              <a:spcAft>
                <a:spcPts val="100"/>
              </a:spcAft>
            </a:pPr>
            <a:r>
              <a:rPr sz="1150" b="1">
                <a:solidFill>
                  <a:srgbClr val="161B26"/>
                </a:solidFill>
                <a:latin typeface="Arial"/>
              </a:rPr>
              <a:t>Assign owners, triggers and review cadence</a:t>
            </a:r>
          </a:p>
          <a:p>
            <a:pPr algn="l">
              <a:spcAft>
                <a:spcPts val="100"/>
              </a:spcAft>
            </a:pPr>
            <a:r>
              <a:rPr sz="950" b="0">
                <a:solidFill>
                  <a:srgbClr val="5B6372"/>
                </a:solidFill>
                <a:latin typeface="Arial"/>
              </a:rPr>
              <a:t>Give each control an owner, date, monitoring indicator and the trigger for escalation; schedule the next periodic review.</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DEBRIEF &amp; CHECK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Debrief — 30-Day Resolution Review at GreenGrid Engineering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91440" cy="9144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822960"/>
          </a:xfrm>
          <a:prstGeom prst="rect">
            <a:avLst/>
          </a:prstGeom>
          <a:noFill/>
        </p:spPr>
        <p:txBody>
          <a:bodyPr wrap="square" anchor="ctr">
            <a:spAutoFit/>
          </a:bodyPr>
          <a:lstStyle/>
          <a:p>
            <a:pPr algn="l">
              <a:spcAft>
                <a:spcPts val="400"/>
              </a:spcAft>
            </a:pPr>
            <a:r>
              <a:rPr sz="1200" b="1">
                <a:solidFill>
                  <a:srgbClr val="127A3E"/>
                </a:solidFill>
                <a:latin typeface="Arial"/>
              </a:rPr>
              <a:t>✅  DEBRIEF STANDARD   </a:t>
            </a:r>
            <a:r>
              <a:rPr sz="1250" b="0">
                <a:solidFill>
                  <a:srgbClr val="161B26"/>
                </a:solidFill>
                <a:latin typeface="Arial"/>
              </a:rPr>
              <a:t>The review reaches an evidence-based verdict, identifies the system cause and adds preventive controls with owners, indicators, triggers and a review cadence.</a:t>
            </a:r>
          </a:p>
        </p:txBody>
      </p:sp>
      <p:sp>
        <p:nvSpPr>
          <p:cNvPr id="10" name="TextBox 9"/>
          <p:cNvSpPr txBox="1"/>
          <p:nvPr/>
        </p:nvSpPr>
        <p:spPr>
          <a:xfrm>
            <a:off x="777240" y="2743200"/>
            <a:ext cx="5486400" cy="274320"/>
          </a:xfrm>
          <a:prstGeom prst="rect">
            <a:avLst/>
          </a:prstGeom>
          <a:noFill/>
        </p:spPr>
        <p:txBody>
          <a:bodyPr wrap="square" anchor="t">
            <a:spAutoFit/>
          </a:bodyPr>
          <a:lstStyle/>
          <a:p>
            <a:pPr algn="l">
              <a:spcAft>
                <a:spcPts val="400"/>
              </a:spcAft>
            </a:pPr>
            <a:r>
              <a:rPr sz="1100" b="1">
                <a:solidFill>
                  <a:srgbClr val="1F6FEB"/>
                </a:solidFill>
                <a:latin typeface="Arial"/>
              </a:rPr>
              <a:t>DISCUSS</a:t>
            </a:r>
          </a:p>
        </p:txBody>
      </p:sp>
      <p:sp>
        <p:nvSpPr>
          <p:cNvPr id="11" name="Rectangle 10"/>
          <p:cNvSpPr/>
          <p:nvPr/>
        </p:nvSpPr>
        <p:spPr>
          <a:xfrm>
            <a:off x="777240"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035808"/>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parts of the resolution were effective, partly effective or ineffective?</a:t>
            </a:r>
          </a:p>
        </p:txBody>
      </p:sp>
      <p:sp>
        <p:nvSpPr>
          <p:cNvPr id="14" name="Rectangle 13"/>
          <p:cNvSpPr/>
          <p:nvPr/>
        </p:nvSpPr>
        <p:spPr>
          <a:xfrm>
            <a:off x="6208776" y="3035808"/>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8776" y="303580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035808"/>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Should the three safety-related late changes count as breaches?</a:t>
            </a:r>
          </a:p>
        </p:txBody>
      </p:sp>
      <p:sp>
        <p:nvSpPr>
          <p:cNvPr id="17" name="Rectangle 16"/>
          <p:cNvSpPr/>
          <p:nvPr/>
        </p:nvSpPr>
        <p:spPr>
          <a:xfrm>
            <a:off x="777240"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40480"/>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Which recurrence cause is behavioural, and which is structural?</a:t>
            </a:r>
          </a:p>
        </p:txBody>
      </p:sp>
      <p:sp>
        <p:nvSpPr>
          <p:cNvPr id="20" name="Rectangle 19"/>
          <p:cNvSpPr/>
          <p:nvPr/>
        </p:nvSpPr>
        <p:spPr>
          <a:xfrm>
            <a:off x="6208776" y="3840480"/>
            <a:ext cx="5202936"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3840480"/>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3840480"/>
            <a:ext cx="4837176" cy="713232"/>
          </a:xfrm>
          <a:prstGeom prst="rect">
            <a:avLst/>
          </a:prstGeom>
          <a:noFill/>
        </p:spPr>
        <p:txBody>
          <a:bodyPr wrap="square" anchor="ctr">
            <a:spAutoFit/>
          </a:bodyPr>
          <a:lstStyle/>
          <a:p>
            <a:pPr algn="l">
              <a:spcAft>
                <a:spcPts val="400"/>
              </a:spcAft>
            </a:pPr>
            <a:r>
              <a:rPr sz="1150" b="0">
                <a:solidFill>
                  <a:srgbClr val="161B26"/>
                </a:solidFill>
                <a:latin typeface="Arial"/>
              </a:rPr>
              <a:t>What guideline or escalation-protocol change prevents the next conflict?</a:t>
            </a:r>
          </a:p>
        </p:txBody>
      </p:sp>
      <p:sp>
        <p:nvSpPr>
          <p:cNvPr id="23" name="TextBox 22"/>
          <p:cNvSpPr txBox="1"/>
          <p:nvPr/>
        </p:nvSpPr>
        <p:spPr>
          <a:xfrm>
            <a:off x="777240" y="4681728"/>
            <a:ext cx="5486400" cy="274320"/>
          </a:xfrm>
          <a:prstGeom prst="rect">
            <a:avLst/>
          </a:prstGeom>
          <a:noFill/>
        </p:spPr>
        <p:txBody>
          <a:bodyPr wrap="square" anchor="t">
            <a:spAutoFit/>
          </a:bodyPr>
          <a:lstStyle/>
          <a:p>
            <a:pPr algn="l">
              <a:spcAft>
                <a:spcPts val="400"/>
              </a:spcAft>
            </a:pPr>
            <a:r>
              <a:rPr sz="1100" b="1">
                <a:solidFill>
                  <a:srgbClr val="F59E0B"/>
                </a:solidFill>
                <a:latin typeface="Arial"/>
              </a:rPr>
              <a:t>IF THE GROUP GETS STUCK</a:t>
            </a:r>
          </a:p>
        </p:txBody>
      </p:sp>
      <p:sp>
        <p:nvSpPr>
          <p:cNvPr id="24" name="Rectangle 23"/>
          <p:cNvSpPr/>
          <p:nvPr/>
        </p:nvSpPr>
        <p:spPr>
          <a:xfrm>
            <a:off x="777240"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'It's solved — they get along'</a:t>
            </a:r>
          </a:p>
        </p:txBody>
      </p:sp>
      <p:sp>
        <p:nvSpPr>
          <p:cNvPr id="27" name="TextBox 26"/>
          <p:cNvSpPr txBox="1"/>
          <p:nvPr/>
        </p:nvSpPr>
        <p:spPr>
          <a:xfrm>
            <a:off x="960120"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Relationship repair is one indicator. Check the work, process and risk measures too.</a:t>
            </a:r>
          </a:p>
        </p:txBody>
      </p:sp>
      <p:sp>
        <p:nvSpPr>
          <p:cNvPr id="28" name="Rectangle 27"/>
          <p:cNvSpPr/>
          <p:nvPr/>
        </p:nvSpPr>
        <p:spPr>
          <a:xfrm>
            <a:off x="4398264"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98264"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1144"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All late changes treated as breaches</a:t>
            </a:r>
          </a:p>
        </p:txBody>
      </p:sp>
      <p:sp>
        <p:nvSpPr>
          <p:cNvPr id="31" name="TextBox 30"/>
          <p:cNvSpPr txBox="1"/>
          <p:nvPr/>
        </p:nvSpPr>
        <p:spPr>
          <a:xfrm>
            <a:off x="4581144"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Separate safety-critical exceptions from non-compliance; design a legitimate exception route.</a:t>
            </a:r>
          </a:p>
        </p:txBody>
      </p:sp>
      <p:sp>
        <p:nvSpPr>
          <p:cNvPr id="32" name="Rectangle 31"/>
          <p:cNvSpPr/>
          <p:nvPr/>
        </p:nvSpPr>
        <p:spPr>
          <a:xfrm>
            <a:off x="8019288" y="4956048"/>
            <a:ext cx="3392424"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9288" y="4956048"/>
            <a:ext cx="3392424"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02168" y="5074920"/>
            <a:ext cx="3026664" cy="292608"/>
          </a:xfrm>
          <a:prstGeom prst="rect">
            <a:avLst/>
          </a:prstGeom>
          <a:noFill/>
        </p:spPr>
        <p:txBody>
          <a:bodyPr wrap="square" anchor="t">
            <a:spAutoFit/>
          </a:bodyPr>
          <a:lstStyle/>
          <a:p>
            <a:pPr algn="l">
              <a:spcAft>
                <a:spcPts val="400"/>
              </a:spcAft>
            </a:pPr>
            <a:r>
              <a:rPr sz="1150" b="1">
                <a:solidFill>
                  <a:srgbClr val="161B26"/>
                </a:solidFill>
                <a:latin typeface="Arial"/>
              </a:rPr>
              <a:t>Controls have no owner</a:t>
            </a:r>
          </a:p>
        </p:txBody>
      </p:sp>
      <p:sp>
        <p:nvSpPr>
          <p:cNvPr id="35" name="TextBox 34"/>
          <p:cNvSpPr txBox="1"/>
          <p:nvPr/>
        </p:nvSpPr>
        <p:spPr>
          <a:xfrm>
            <a:off x="8202168" y="5376672"/>
            <a:ext cx="3026664" cy="841248"/>
          </a:xfrm>
          <a:prstGeom prst="rect">
            <a:avLst/>
          </a:prstGeom>
          <a:noFill/>
        </p:spPr>
        <p:txBody>
          <a:bodyPr wrap="square" anchor="t">
            <a:spAutoFit/>
          </a:bodyPr>
          <a:lstStyle/>
          <a:p>
            <a:pPr algn="l">
              <a:spcAft>
                <a:spcPts val="400"/>
              </a:spcAft>
            </a:pPr>
            <a:r>
              <a:rPr sz="1050" b="0">
                <a:solidFill>
                  <a:srgbClr val="5B6372"/>
                </a:solidFill>
                <a:latin typeface="Arial"/>
              </a:rPr>
              <a:t>An unowned control does not exist — name a role, a date and the indicator that proves it works.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TOPIC 05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Closure is an agreement; prevention is a changed system.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Guidelines, leader habits and periodic review turn one resolved conflict into a resilient organisation.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Conflict-Resilient Organisation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Activity 7 · NovaTech Services</a:t>
            </a:r>
          </a:p>
          <a:p>
            <a:pPr algn="l">
              <a:spcAft>
                <a:spcPts val="300"/>
              </a:spcAft>
            </a:pPr>
            <a:r>
              <a:rPr sz="1100" b="0">
                <a:solidFill>
                  <a:srgbClr val="5B6372"/>
                </a:solidFill>
                <a:latin typeface="Arial"/>
              </a:rPr>
              <a:t>You can now: coach a team leader to build psychological safety and constructive dialogue, and turn the coaching into a team norm.</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Activity 8 · GreenGrid Engineering</a:t>
            </a:r>
          </a:p>
          <a:p>
            <a:pPr algn="l">
              <a:spcAft>
                <a:spcPts val="300"/>
              </a:spcAft>
            </a:pPr>
            <a:r>
              <a:rPr sz="1100" b="0">
                <a:solidFill>
                  <a:srgbClr val="5B6372"/>
                </a:solidFill>
                <a:latin typeface="Arial"/>
              </a:rPr>
              <a:t>You can now: monitor resolution effectiveness with balanced indicators, run a root-cause review and design preventive controls and guideline updates.</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LO5</a:t>
            </a:r>
          </a:p>
          <a:p>
            <a:pPr algn="l">
              <a:spcAft>
                <a:spcPts val="300"/>
              </a:spcAft>
            </a:pPr>
            <a:r>
              <a:rPr sz="1100" b="0">
                <a:solidFill>
                  <a:srgbClr val="5B6372"/>
                </a:solidFill>
                <a:latin typeface="Arial"/>
              </a:rPr>
              <a:t>Develop organisational guidelines and leadership strategies to prevent recurring conflicts and embed constructive conflict management practices.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advClick="1">
    <p:push dir="l"/>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LO1 · Analyse and select</a:t>
            </a:r>
          </a:p>
          <a:p>
            <a:pPr algn="l">
              <a:spcAft>
                <a:spcPts val="300"/>
              </a:spcAft>
            </a:pPr>
            <a:r>
              <a:rPr sz="1200" b="0">
                <a:solidFill>
                  <a:srgbClr val="5B6372"/>
                </a:solidFill>
                <a:latin typeface="Arial"/>
              </a:rPr>
              <a:t>Analyse conflict types, escalation stages and the five management styles to choose a fitting approach.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LO2 · De-escalate</a:t>
            </a:r>
          </a:p>
          <a:p>
            <a:pPr algn="l">
              <a:spcAft>
                <a:spcPts val="300"/>
              </a:spcAft>
            </a:pPr>
            <a:r>
              <a:rPr sz="1200" b="0">
                <a:solidFill>
                  <a:srgbClr val="5B6372"/>
                </a:solidFill>
                <a:latin typeface="Arial"/>
              </a:rPr>
              <a:t>Use active listening, empathy, reframing and non-verbal skills to calm and steer conflict conversations.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LO3 · Negotiate and build consensus</a:t>
            </a:r>
          </a:p>
          <a:p>
            <a:pPr algn="l">
              <a:spcAft>
                <a:spcPts val="300"/>
              </a:spcAft>
            </a:pPr>
            <a:r>
              <a:rPr sz="1200" b="0">
                <a:solidFill>
                  <a:srgbClr val="5B6372"/>
                </a:solidFill>
                <a:latin typeface="Arial"/>
              </a:rPr>
              <a:t>Negotiate on interests, manage resistance and power, and test consensus on a shared agreement.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LO4 · Resolve and mediate</a:t>
            </a:r>
          </a:p>
          <a:p>
            <a:pPr algn="l">
              <a:spcAft>
                <a:spcPts val="300"/>
              </a:spcAft>
            </a:pPr>
            <a:r>
              <a:rPr sz="1200" b="0">
                <a:solidFill>
                  <a:srgbClr val="5B6372"/>
                </a:solidFill>
                <a:latin typeface="Arial"/>
              </a:rPr>
              <a:t>Run a structured resolution or mediation and turn it into an actionable, policy-aligned plan.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LO5 · Prevent recurrence</a:t>
            </a:r>
          </a:p>
          <a:p>
            <a:pPr algn="l">
              <a:spcAft>
                <a:spcPts val="300"/>
              </a:spcAft>
            </a:pPr>
            <a:r>
              <a:rPr sz="1200" b="0">
                <a:solidFill>
                  <a:srgbClr val="5B6372"/>
                </a:solidFill>
                <a:latin typeface="Arial"/>
              </a:rPr>
              <a:t>Set guidelines, escalation protocols and leadership habits that keep conflict constructive.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EVIDENCE BASE  ·  VERIFY CURRENT POLICY BEFORE A REAL CASE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Sources &amp; Further Reading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73152" cy="987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847088"/>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Harvard Program on Negotiation — conflict resolution strategies</a:t>
            </a:r>
          </a:p>
          <a:p>
            <a:r>
              <a:rPr sz="1050" b="0">
                <a:solidFill>
                  <a:srgbClr val="1F6FEB"/>
                </a:solidFill>
                <a:latin typeface="Arial"/>
                <a:hlinkClick r:id="rId2"/>
              </a:rPr>
              <a:t>pon.harvard.edu</a:t>
            </a:r>
          </a:p>
        </p:txBody>
      </p:sp>
      <p:sp>
        <p:nvSpPr>
          <p:cNvPr id="10" name="Rectangle 9"/>
          <p:cNvSpPr/>
          <p:nvPr/>
        </p:nvSpPr>
        <p:spPr>
          <a:xfrm>
            <a:off x="777240" y="2834640"/>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834640"/>
            <a:ext cx="73152" cy="987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926080"/>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Harvard Business School Online — workplace conflict resolution</a:t>
            </a:r>
          </a:p>
          <a:p>
            <a:r>
              <a:rPr sz="1050" b="0">
                <a:solidFill>
                  <a:srgbClr val="10B981"/>
                </a:solidFill>
                <a:latin typeface="Arial"/>
                <a:hlinkClick r:id="rId3"/>
              </a:rPr>
              <a:t>online.hbs.edu</a:t>
            </a:r>
          </a:p>
        </p:txBody>
      </p:sp>
      <p:sp>
        <p:nvSpPr>
          <p:cNvPr id="13" name="Rectangle 12"/>
          <p:cNvSpPr/>
          <p:nvPr/>
        </p:nvSpPr>
        <p:spPr>
          <a:xfrm>
            <a:off x="777240" y="3913632"/>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913632"/>
            <a:ext cx="73152"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05072"/>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HelpGuide — conflict resolution skills</a:t>
            </a:r>
          </a:p>
          <a:p>
            <a:r>
              <a:rPr sz="1050" b="0">
                <a:solidFill>
                  <a:srgbClr val="7C3AED"/>
                </a:solidFill>
                <a:latin typeface="Arial"/>
                <a:hlinkClick r:id="rId4"/>
              </a:rPr>
              <a:t>helpguide.org</a:t>
            </a:r>
          </a:p>
        </p:txBody>
      </p:sp>
      <p:sp>
        <p:nvSpPr>
          <p:cNvPr id="16" name="Rectangle 15"/>
          <p:cNvSpPr/>
          <p:nvPr/>
        </p:nvSpPr>
        <p:spPr>
          <a:xfrm>
            <a:off x="777240" y="4992624"/>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992624"/>
            <a:ext cx="73152" cy="987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084064"/>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Coursera — conflict management styles and strategies</a:t>
            </a:r>
          </a:p>
          <a:p>
            <a:r>
              <a:rPr sz="1050" b="0">
                <a:solidFill>
                  <a:srgbClr val="F59E0B"/>
                </a:solidFill>
                <a:latin typeface="Arial"/>
                <a:hlinkClick r:id="rId5"/>
              </a:rPr>
              <a:t>coursera.org</a:t>
            </a:r>
          </a:p>
        </p:txBody>
      </p:sp>
      <p:sp>
        <p:nvSpPr>
          <p:cNvPr id="19" name="Rectangle 18"/>
          <p:cNvSpPr/>
          <p:nvPr/>
        </p:nvSpPr>
        <p:spPr>
          <a:xfrm>
            <a:off x="6208776" y="1755648"/>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8776" y="1755648"/>
            <a:ext cx="73152" cy="987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7376" y="1847088"/>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UC Berkeley Ombuds — tips, tools and techniques</a:t>
            </a:r>
          </a:p>
          <a:p>
            <a:r>
              <a:rPr sz="1050" b="0">
                <a:solidFill>
                  <a:srgbClr val="1F6FEB"/>
                </a:solidFill>
                <a:latin typeface="Arial"/>
                <a:hlinkClick r:id="rId6"/>
              </a:rPr>
              <a:t>studentaffairs.berkeley.edu</a:t>
            </a:r>
          </a:p>
        </p:txBody>
      </p:sp>
      <p:sp>
        <p:nvSpPr>
          <p:cNvPr id="22" name="Rectangle 21"/>
          <p:cNvSpPr/>
          <p:nvPr/>
        </p:nvSpPr>
        <p:spPr>
          <a:xfrm>
            <a:off x="6208776" y="2834640"/>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2834640"/>
            <a:ext cx="73152" cy="987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2926080"/>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Singapore MOM — workplace grievances</a:t>
            </a:r>
          </a:p>
          <a:p>
            <a:r>
              <a:rPr sz="1050" b="0">
                <a:solidFill>
                  <a:srgbClr val="10B981"/>
                </a:solidFill>
                <a:latin typeface="Arial"/>
                <a:hlinkClick r:id="rId7"/>
              </a:rPr>
              <a:t>mom.gov.sg</a:t>
            </a:r>
          </a:p>
        </p:txBody>
      </p:sp>
      <p:sp>
        <p:nvSpPr>
          <p:cNvPr id="25" name="Rectangle 24"/>
          <p:cNvSpPr/>
          <p:nvPr/>
        </p:nvSpPr>
        <p:spPr>
          <a:xfrm>
            <a:off x="6208776" y="3913632"/>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08776" y="3913632"/>
            <a:ext cx="73152"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4005072"/>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Singapore MOM — Tripartite Advisory on Managing Workplace Harassment</a:t>
            </a:r>
          </a:p>
          <a:p>
            <a:r>
              <a:rPr sz="1050" b="0">
                <a:solidFill>
                  <a:srgbClr val="7C3AED"/>
                </a:solidFill>
                <a:latin typeface="Arial"/>
                <a:hlinkClick r:id="rId8"/>
              </a:rPr>
              <a:t>mom.gov.sg</a:t>
            </a:r>
          </a:p>
        </p:txBody>
      </p:sp>
      <p:sp>
        <p:nvSpPr>
          <p:cNvPr id="28" name="Rectangle 27"/>
          <p:cNvSpPr/>
          <p:nvPr/>
        </p:nvSpPr>
        <p:spPr>
          <a:xfrm>
            <a:off x="6208776" y="4992624"/>
            <a:ext cx="5202936"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08776" y="4992624"/>
            <a:ext cx="73152" cy="987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37376" y="5084064"/>
            <a:ext cx="4837176" cy="457200"/>
          </a:xfrm>
          <a:prstGeom prst="rect">
            <a:avLst/>
          </a:prstGeom>
          <a:noFill/>
        </p:spPr>
        <p:txBody>
          <a:bodyPr wrap="square" anchor="t">
            <a:spAutoFit/>
          </a:bodyPr>
          <a:lstStyle/>
          <a:p>
            <a:pPr algn="l">
              <a:spcAft>
                <a:spcPts val="400"/>
              </a:spcAft>
            </a:pPr>
            <a:r>
              <a:rPr sz="1150" b="1">
                <a:solidFill>
                  <a:srgbClr val="161B26"/>
                </a:solidFill>
                <a:latin typeface="Arial"/>
              </a:rPr>
              <a:t>Singapore PDPC — personal data protection obligations</a:t>
            </a:r>
          </a:p>
          <a:p>
            <a:r>
              <a:rPr sz="1050" b="0">
                <a:solidFill>
                  <a:srgbClr val="F59E0B"/>
                </a:solidFill>
                <a:latin typeface="Arial"/>
                <a:hlinkClick r:id="rId9"/>
              </a:rPr>
              <a:t>pdpc.gov.sg</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LMS / TMS</a:t>
            </a:r>
          </a:p>
          <a:p>
            <a:pPr algn="l">
              <a:spcAft>
                <a:spcPts val="300"/>
              </a:spcAft>
            </a:pPr>
            <a:r>
              <a:rPr sz="1300" b="0">
                <a:solidFill>
                  <a:srgbClr val="5B6372"/>
                </a:solidFill>
                <a:latin typeface="Arial"/>
              </a:rPr>
              <a:t>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 · 5:00PM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(WA)</a:t>
            </a:r>
          </a:p>
          <a:p>
            <a:pPr algn="l">
              <a:spcAft>
                <a:spcPts val="300"/>
              </a:spcAft>
            </a:pPr>
            <a:r>
              <a:rPr sz="1300" b="0">
                <a:solidFill>
                  <a:srgbClr val="5B6372"/>
                </a:solidFill>
                <a:latin typeface="Arial"/>
              </a:rPr>
              <a:t>30 minutes · open book · short-answer questions on LO1 and LO5.</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Live Role Play (RP)</a:t>
            </a:r>
          </a:p>
          <a:p>
            <a:pPr algn="l">
              <a:spcAft>
                <a:spcPts val="300"/>
              </a:spcAft>
            </a:pPr>
            <a:r>
              <a:rPr sz="1300" b="0">
                <a:solidFill>
                  <a:srgbClr val="5B6372"/>
                </a:solidFill>
                <a:latin typeface="Arial"/>
              </a:rPr>
              <a:t>30 minutes · individual role play observed by the assessor on LO2, LO3 and LO4.</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Take the Assessment digital attendance and complete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WA answers at 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Role Play</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WA 30 · Role Play 30 min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WA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TRAQOM, the assessment digital attendance and the signed Assessment Summary Record are all required — the Role Play is observed live by the assessor, the WA is submitted on the LMS.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SkillsFuture-funded courses.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AT THE NEXT ONE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recognise conflict early, de-escalate, negotiate, mediate and build a team that disagrees well.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Conflict Management  ·  TGS-2026066849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